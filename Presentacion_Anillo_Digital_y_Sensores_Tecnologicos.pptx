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88825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jVTY0SwYksGIJtVe/PY0KRRsAem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52CD297-068B-45B0-BC44-D5CC68EE365D}">
  <a:tblStyle styleId="{152CD297-068B-45B0-BC44-D5CC68EE365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86" y="-8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73AA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274320" y="109728"/>
            <a:ext cx="11640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2373AA"/>
                </a:solidFill>
                <a:latin typeface="Calibri"/>
                <a:ea typeface="Calibri"/>
                <a:cs typeface="Calibri"/>
                <a:sym typeface="Calibri"/>
              </a:rPr>
              <a:t>División Anillo Digital y Sensores Tecnológicos  —  Informe 2026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274320" y="384048"/>
            <a:ext cx="116403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Superintendencia de Prevención y Gestión de Emergencias  •  Dirección Videoseguridad  •  Departamento Coordinación Operativa</a:t>
            </a:r>
            <a:endParaRPr sz="1600"/>
          </a:p>
        </p:txBody>
      </p:sp>
      <p:sp>
        <p:nvSpPr>
          <p:cNvPr id="87" name="Google Shape;87;p1"/>
          <p:cNvSpPr/>
          <p:nvPr/>
        </p:nvSpPr>
        <p:spPr>
          <a:xfrm>
            <a:off x="457200" y="621792"/>
            <a:ext cx="11274552" cy="12700"/>
          </a:xfrm>
          <a:prstGeom prst="rect">
            <a:avLst/>
          </a:prstGeom>
          <a:solidFill>
            <a:srgbClr val="2373AA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189579" y="703707"/>
            <a:ext cx="5898000" cy="5898000"/>
          </a:xfrm>
          <a:prstGeom prst="roundRect">
            <a:avLst>
              <a:gd name="adj" fmla="val 2000"/>
            </a:avLst>
          </a:prstGeom>
          <a:solidFill>
            <a:srgbClr val="0A1218"/>
          </a:solidFill>
          <a:ln w="12700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" descr="0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6700" y="714400"/>
            <a:ext cx="548625" cy="5486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868680" y="822960"/>
            <a:ext cx="3200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373AA"/>
                </a:solidFill>
                <a:latin typeface="Calibri"/>
                <a:ea typeface="Calibri"/>
                <a:cs typeface="Calibri"/>
                <a:sym typeface="Calibri"/>
              </a:rPr>
              <a:t>DIVISIÓN ANILLO DIGITAL</a:t>
            </a:r>
            <a:endParaRPr sz="1700"/>
          </a:p>
        </p:txBody>
      </p:sp>
      <p:sp>
        <p:nvSpPr>
          <p:cNvPr id="91" name="Google Shape;91;p1"/>
          <p:cNvSpPr txBox="1"/>
          <p:nvPr/>
        </p:nvSpPr>
        <p:spPr>
          <a:xfrm>
            <a:off x="868680" y="1005840"/>
            <a:ext cx="32004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1" u="none" strike="noStrike" cap="none" dirty="0" err="1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Capacidades</a:t>
            </a:r>
            <a:r>
              <a:rPr lang="en-US" sz="700" b="0" i="1" u="none" strike="noStrike" cap="none" dirty="0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  •  </a:t>
            </a:r>
            <a:r>
              <a:rPr lang="en-US" sz="700" b="0" i="1" u="none" strike="noStrike" cap="none" dirty="0" err="1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Resultados</a:t>
            </a:r>
            <a:r>
              <a:rPr lang="en-US" sz="700" b="0" i="1" u="none" strike="noStrike" cap="none" dirty="0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 2025 vs 2026  •  </a:t>
            </a:r>
            <a:r>
              <a:rPr lang="en-US" sz="700" b="0" i="1" u="none" strike="noStrike" cap="none" dirty="0" err="1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Gráficos</a:t>
            </a:r>
            <a:endParaRPr sz="1600" dirty="0">
              <a:solidFill>
                <a:srgbClr val="CFD7E7"/>
              </a:solidFill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338328" y="1280159"/>
            <a:ext cx="5678424" cy="1215326"/>
          </a:xfrm>
          <a:prstGeom prst="roundRect">
            <a:avLst>
              <a:gd name="adj" fmla="val 3000"/>
            </a:avLst>
          </a:prstGeom>
          <a:solidFill>
            <a:srgbClr val="121E2E"/>
          </a:solidFill>
          <a:ln w="9525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393192" y="1304544"/>
            <a:ext cx="55686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🏗️  CAPACIDADES OPERATIVAS</a:t>
            </a:r>
            <a:endParaRPr sz="1700" dirty="0"/>
          </a:p>
        </p:txBody>
      </p:sp>
      <p:sp>
        <p:nvSpPr>
          <p:cNvPr id="94" name="Google Shape;94;p1"/>
          <p:cNvSpPr txBox="1"/>
          <p:nvPr/>
        </p:nvSpPr>
        <p:spPr>
          <a:xfrm>
            <a:off x="393192" y="1648476"/>
            <a:ext cx="3051048" cy="863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Posee 2 Centros de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Monitoreo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Patentes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(Norte - Sur)</a:t>
            </a:r>
            <a:endParaRPr sz="8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886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Lectores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Patentes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(DAD 798 – AUSA 88)</a:t>
            </a:r>
            <a:endParaRPr sz="8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75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Cámaras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24/7  (DOMOS 25 – FIJAS 50)</a:t>
            </a:r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•  43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móviles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(MOTO 28 – AUTO 4 – CAMIONETA 10 – TRASLADO 1)</a:t>
            </a:r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•  Personal: POLICIAL 154 – AUXILIAR 15 – CONTRATADO 84</a:t>
            </a:r>
            <a:endParaRPr sz="800"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3390900" y="1741026"/>
            <a:ext cx="2651700" cy="778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Detención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vehículos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con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impedimento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legal.</a:t>
            </a:r>
            <a:endParaRPr sz="17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Detección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temprana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tiempo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real.</a:t>
            </a:r>
            <a:endParaRPr sz="17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Monitoreo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verificación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alarmas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7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Coordinación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interinstitucional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700" dirty="0"/>
          </a:p>
        </p:txBody>
      </p:sp>
      <p:sp>
        <p:nvSpPr>
          <p:cNvPr id="96" name="Google Shape;96;p1"/>
          <p:cNvSpPr txBox="1"/>
          <p:nvPr/>
        </p:nvSpPr>
        <p:spPr>
          <a:xfrm>
            <a:off x="393192" y="2514535"/>
            <a:ext cx="4527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📊  RESULTADOS 2025 vs 2026  •  ENE – AGO</a:t>
            </a:r>
            <a:endParaRPr sz="1600" dirty="0"/>
          </a:p>
        </p:txBody>
      </p:sp>
      <p:graphicFrame>
        <p:nvGraphicFramePr>
          <p:cNvPr id="97" name="Google Shape;97;p1"/>
          <p:cNvGraphicFramePr/>
          <p:nvPr>
            <p:extLst>
              <p:ext uri="{D42A27DB-BD31-4B8C-83A1-F6EECF244321}">
                <p14:modId xmlns:p14="http://schemas.microsoft.com/office/powerpoint/2010/main" val="2945183212"/>
              </p:ext>
            </p:extLst>
          </p:nvPr>
        </p:nvGraphicFramePr>
        <p:xfrm>
          <a:off x="942428" y="2742670"/>
          <a:ext cx="4231025" cy="1440250"/>
        </p:xfrm>
        <a:graphic>
          <a:graphicData uri="http://schemas.openxmlformats.org/drawingml/2006/table">
            <a:tbl>
              <a:tblPr firstRow="1" bandRow="1">
                <a:noFill/>
                <a:tableStyleId>{152CD297-068B-45B0-BC44-D5CC68EE365D}</a:tableStyleId>
              </a:tblPr>
              <a:tblGrid>
                <a:gridCol w="209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Indicador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 dirty="0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2025</a:t>
                      </a:r>
                      <a:endParaRPr sz="1600" dirty="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Variación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Intercept. c/ secuestro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247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23.5%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Aprehendidos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314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8.3%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Actuaciones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1.696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3.092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82.4%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Alarmas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3.039.520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3.166.212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4.2%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Alarmas atendidas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665.039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1.753.812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163.8%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 dirty="0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Prom. </a:t>
                      </a:r>
                      <a:r>
                        <a:rPr lang="en-US" sz="750" u="none" strike="noStrike" cap="none" dirty="0" err="1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Incremento</a:t>
                      </a:r>
                      <a:r>
                        <a:rPr lang="en-US" sz="750" u="none" strike="noStrike" cap="none" dirty="0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Personal</a:t>
                      </a:r>
                      <a:endParaRPr sz="1600" dirty="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238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 dirty="0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17.2%</a:t>
                      </a:r>
                      <a:endParaRPr sz="1600" dirty="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8" name="Google Shape;98;p1"/>
          <p:cNvSpPr txBox="1"/>
          <p:nvPr/>
        </p:nvSpPr>
        <p:spPr>
          <a:xfrm>
            <a:off x="338328" y="4194264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PROCEDIMIENTOS</a:t>
            </a:r>
            <a:endParaRPr sz="1500"/>
          </a:p>
        </p:txBody>
      </p:sp>
      <p:pic>
        <p:nvPicPr>
          <p:cNvPr id="99" name="Google Shape;99;p1" descr="chart_PROCEDIMIENTO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9593" y="4330365"/>
            <a:ext cx="2983174" cy="1333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3214116" y="4194264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ALARMAS</a:t>
            </a:r>
            <a:endParaRPr sz="1500"/>
          </a:p>
        </p:txBody>
      </p:sp>
      <p:pic>
        <p:nvPicPr>
          <p:cNvPr id="101" name="Google Shape;101;p1" descr="chart_ALARMAS.png"/>
          <p:cNvPicPr preferRelativeResize="0"/>
          <p:nvPr/>
        </p:nvPicPr>
        <p:blipFill rotWithShape="1">
          <a:blip r:embed="rId5">
            <a:alphaModFix/>
          </a:blip>
          <a:srcRect r="2334"/>
          <a:stretch/>
        </p:blipFill>
        <p:spPr>
          <a:xfrm>
            <a:off x="3121743" y="4349415"/>
            <a:ext cx="2913626" cy="1333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"/>
          <p:cNvSpPr/>
          <p:nvPr/>
        </p:nvSpPr>
        <p:spPr>
          <a:xfrm>
            <a:off x="338328" y="5788863"/>
            <a:ext cx="5678400" cy="777300"/>
          </a:xfrm>
          <a:prstGeom prst="roundRect">
            <a:avLst>
              <a:gd name="adj" fmla="val 3000"/>
            </a:avLst>
          </a:prstGeom>
          <a:solidFill>
            <a:srgbClr val="0F2A3A"/>
          </a:solidFill>
          <a:ln w="9525" cap="flat" cmpd="sng">
            <a:solidFill>
              <a:srgbClr val="267CA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393192" y="5843727"/>
            <a:ext cx="5568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✅  CONCLUSIONES  •  ISO 9001:2015 ininterrumpida desde 2019 — TÜV Rheinland Cert. N° 01 10006 2129714</a:t>
            </a:r>
            <a:endParaRPr sz="1600"/>
          </a:p>
        </p:txBody>
      </p:sp>
      <p:sp>
        <p:nvSpPr>
          <p:cNvPr id="104" name="Google Shape;104;p1"/>
          <p:cNvSpPr txBox="1"/>
          <p:nvPr/>
        </p:nvSpPr>
        <p:spPr>
          <a:xfrm>
            <a:off x="393192" y="5971743"/>
            <a:ext cx="5568600" cy="549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+163.8%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alarmas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atendidas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refuerzo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personal  •  +82.4%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actuaciones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renovación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flota</a:t>
            </a:r>
            <a:endParaRPr sz="1600" dirty="0"/>
          </a:p>
          <a:p>
            <a:pPr lvl="0">
              <a:lnSpc>
                <a:spcPct val="116666"/>
              </a:lnSpc>
              <a:spcBef>
                <a:spcPts val="100"/>
              </a:spcBef>
            </a:pP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Próximo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paso: </a:t>
            </a:r>
            <a:r>
              <a:rPr lang="en-US" sz="800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🚁 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drones para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seguimiento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vehicular y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cobertura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aérea</a:t>
            </a:r>
            <a:endParaRPr lang="en-US" sz="800" b="0" i="0" u="none" strike="noStrike" cap="none" dirty="0">
              <a:solidFill>
                <a:srgbClr val="B8B8B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00000"/>
              </a:lnSpc>
              <a:spcBef>
                <a:spcPts val="100"/>
              </a:spcBef>
            </a:pPr>
            <a:r>
              <a:rPr lang="en-US" sz="800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</a:t>
            </a:r>
            <a:r>
              <a:rPr lang="en-US" sz="800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Próximo</a:t>
            </a:r>
            <a:r>
              <a:rPr lang="en-US" sz="800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paso: </a:t>
            </a:r>
            <a:r>
              <a:rPr lang="en-US" sz="800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Incorporación</a:t>
            </a:r>
            <a:r>
              <a:rPr lang="en-US" sz="800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Sistema ANPR a </a:t>
            </a:r>
            <a:r>
              <a:rPr lang="en-US" sz="800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través</a:t>
            </a:r>
            <a:r>
              <a:rPr lang="en-US" sz="800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dispositivos</a:t>
            </a:r>
            <a:r>
              <a:rPr lang="en-US" sz="800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móviles</a:t>
            </a:r>
            <a:r>
              <a:rPr lang="en-US" sz="800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sz="800" dirty="0"/>
          </a:p>
        </p:txBody>
      </p:sp>
      <p:sp>
        <p:nvSpPr>
          <p:cNvPr id="105" name="Google Shape;105;p1"/>
          <p:cNvSpPr/>
          <p:nvPr/>
        </p:nvSpPr>
        <p:spPr>
          <a:xfrm>
            <a:off x="6224312" y="713232"/>
            <a:ext cx="5897880" cy="5897880"/>
          </a:xfrm>
          <a:prstGeom prst="roundRect">
            <a:avLst>
              <a:gd name="adj" fmla="val 2000"/>
            </a:avLst>
          </a:prstGeom>
          <a:solidFill>
            <a:srgbClr val="0A1218"/>
          </a:solidFill>
          <a:ln w="12700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"/>
          <p:cNvSpPr txBox="1"/>
          <p:nvPr/>
        </p:nvSpPr>
        <p:spPr>
          <a:xfrm>
            <a:off x="6903720" y="797560"/>
            <a:ext cx="34746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373AA"/>
                </a:solidFill>
                <a:latin typeface="Calibri"/>
                <a:ea typeface="Calibri"/>
                <a:cs typeface="Calibri"/>
                <a:sym typeface="Calibri"/>
              </a:rPr>
              <a:t>DIVISIÓN SENSORES TECNOLÓGICOS</a:t>
            </a:r>
            <a:endParaRPr sz="1700"/>
          </a:p>
        </p:txBody>
      </p:sp>
      <p:sp>
        <p:nvSpPr>
          <p:cNvPr id="107" name="Google Shape;107;p1"/>
          <p:cNvSpPr txBox="1"/>
          <p:nvPr/>
        </p:nvSpPr>
        <p:spPr>
          <a:xfrm>
            <a:off x="6903720" y="1005840"/>
            <a:ext cx="3474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1" u="none" strike="noStrike" cap="none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Fuerza Efectiva  •  Resultados 2025 vs 2026  •  Gráficos</a:t>
            </a:r>
            <a:endParaRPr sz="700">
              <a:solidFill>
                <a:srgbClr val="CFD7E7"/>
              </a:solidFill>
            </a:endParaRPr>
          </a:p>
        </p:txBody>
      </p:sp>
      <p:sp>
        <p:nvSpPr>
          <p:cNvPr id="111" name="Google Shape;111;p1"/>
          <p:cNvSpPr/>
          <p:nvPr/>
        </p:nvSpPr>
        <p:spPr>
          <a:xfrm>
            <a:off x="6373368" y="1280159"/>
            <a:ext cx="5678424" cy="1220433"/>
          </a:xfrm>
          <a:prstGeom prst="roundRect">
            <a:avLst>
              <a:gd name="adj" fmla="val 3000"/>
            </a:avLst>
          </a:prstGeom>
          <a:solidFill>
            <a:srgbClr val="121E2E"/>
          </a:solidFill>
          <a:ln w="9525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"/>
          <p:cNvSpPr txBox="1"/>
          <p:nvPr/>
        </p:nvSpPr>
        <p:spPr>
          <a:xfrm>
            <a:off x="6334670" y="1335024"/>
            <a:ext cx="26928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🏛️  DEPENDENCIA Y ORGANIZACIÓN</a:t>
            </a:r>
            <a:endParaRPr sz="1700"/>
          </a:p>
        </p:txBody>
      </p:sp>
      <p:sp>
        <p:nvSpPr>
          <p:cNvPr id="114" name="Google Shape;114;p1"/>
          <p:cNvSpPr txBox="1"/>
          <p:nvPr/>
        </p:nvSpPr>
        <p:spPr>
          <a:xfrm>
            <a:off x="6334669" y="1664208"/>
            <a:ext cx="3458772" cy="681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lnSpc>
                <a:spcPct val="116666"/>
              </a:lnSpc>
            </a:pP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Posee 1 Centro de </a:t>
            </a:r>
            <a:r>
              <a:rPr lang="en-US" sz="800" b="1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Monitoreo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pPr>
              <a:lnSpc>
                <a:spcPct val="116666"/>
              </a:lnSpc>
            </a:pP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División </a:t>
            </a:r>
            <a:r>
              <a:rPr lang="en-US" sz="800" b="1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Sensores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1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Tecnológicos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: (Policial 11 – Auxiliar 5)</a:t>
            </a:r>
            <a:endParaRPr lang="en-US" sz="800" dirty="0"/>
          </a:p>
          <a:p>
            <a:pPr lvl="0">
              <a:lnSpc>
                <a:spcPct val="116666"/>
              </a:lnSpc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Sección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Dispositivos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Antipánico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(Policial 5 – Auxiliar 15 – </a:t>
            </a:r>
            <a:r>
              <a:rPr lang="en-US" sz="800" b="1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Contratado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20)</a:t>
            </a:r>
            <a:endParaRPr sz="800" dirty="0"/>
          </a:p>
          <a:p>
            <a:pPr lvl="0">
              <a:lnSpc>
                <a:spcPct val="116666"/>
              </a:lnSpc>
              <a:spcBef>
                <a:spcPts val="100"/>
              </a:spcBef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Sección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Pulseras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Tobilleras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(Policial 6 – Auxiliar 11 – </a:t>
            </a:r>
            <a:r>
              <a:rPr lang="en-US" sz="800" b="1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Contratado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31)</a:t>
            </a:r>
            <a:endParaRPr sz="800" dirty="0"/>
          </a:p>
        </p:txBody>
      </p:sp>
      <p:sp>
        <p:nvSpPr>
          <p:cNvPr id="115" name="Google Shape;115;p1"/>
          <p:cNvSpPr txBox="1"/>
          <p:nvPr/>
        </p:nvSpPr>
        <p:spPr>
          <a:xfrm>
            <a:off x="6481318" y="2516961"/>
            <a:ext cx="5678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📊  RESULTADOS 2025 vs 2026  •  ENE – AGO</a:t>
            </a:r>
            <a:endParaRPr sz="1600" dirty="0"/>
          </a:p>
        </p:txBody>
      </p:sp>
      <p:graphicFrame>
        <p:nvGraphicFramePr>
          <p:cNvPr id="116" name="Google Shape;116;p1"/>
          <p:cNvGraphicFramePr/>
          <p:nvPr>
            <p:extLst>
              <p:ext uri="{D42A27DB-BD31-4B8C-83A1-F6EECF244321}">
                <p14:modId xmlns:p14="http://schemas.microsoft.com/office/powerpoint/2010/main" val="1178421542"/>
              </p:ext>
            </p:extLst>
          </p:nvPr>
        </p:nvGraphicFramePr>
        <p:xfrm>
          <a:off x="6913118" y="2802965"/>
          <a:ext cx="4069075" cy="1440250"/>
        </p:xfrm>
        <a:graphic>
          <a:graphicData uri="http://schemas.openxmlformats.org/drawingml/2006/table">
            <a:tbl>
              <a:tblPr firstRow="1" bandRow="1">
                <a:noFill/>
                <a:tableStyleId>{152CD297-068B-45B0-BC44-D5CC68EE365D}</a:tableStyleId>
              </a:tblPr>
              <a:tblGrid>
                <a:gridCol w="20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Indicador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2025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Variación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Disp. Antipánico Monitoreados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26.207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31.620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20.7%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Accionamiento Disp. Antipánico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7.339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6.549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F8717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↓ 10.8%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Detenidos Sec. Disp. Antipánico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173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32.9%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Pulseras y Tobilleras Monit.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3.349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3.581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6.9%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Cant. Alertas Pulseras/Tobill.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657.710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662.653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0.8%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 dirty="0" err="1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Detenidos</a:t>
                      </a:r>
                      <a:r>
                        <a:rPr lang="en-US" sz="750" u="none" strike="noStrike" cap="none" dirty="0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Sec. </a:t>
                      </a:r>
                      <a:r>
                        <a:rPr lang="en-US" sz="750" u="none" strike="noStrike" cap="none" dirty="0" err="1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Pulseras</a:t>
                      </a:r>
                      <a:r>
                        <a:rPr lang="en-US" sz="750" u="none" strike="noStrike" cap="none" dirty="0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en-US" sz="750" u="none" strike="noStrike" cap="none" dirty="0" err="1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Tobill</a:t>
                      </a:r>
                      <a:r>
                        <a:rPr lang="en-US" sz="750" u="none" strike="noStrike" cap="none" dirty="0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1600" dirty="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122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 dirty="0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31.2%</a:t>
                      </a:r>
                      <a:endParaRPr sz="1600" dirty="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7" name="Google Shape;117;p1"/>
          <p:cNvSpPr txBox="1"/>
          <p:nvPr/>
        </p:nvSpPr>
        <p:spPr>
          <a:xfrm>
            <a:off x="6373368" y="4253531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PULSERAS Y TOBILLERAS</a:t>
            </a:r>
            <a:endParaRPr sz="1500"/>
          </a:p>
        </p:txBody>
      </p:sp>
      <p:pic>
        <p:nvPicPr>
          <p:cNvPr id="118" name="Google Shape;118;p1" descr="chart_PULSERAS_Y_TOBILLERAS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61329" y="4405418"/>
            <a:ext cx="2983174" cy="1333427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"/>
          <p:cNvSpPr txBox="1"/>
          <p:nvPr/>
        </p:nvSpPr>
        <p:spPr>
          <a:xfrm>
            <a:off x="9249156" y="4253531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DISPOSITIVOS ANTIPÁNICO</a:t>
            </a:r>
            <a:endParaRPr sz="1500"/>
          </a:p>
        </p:txBody>
      </p:sp>
      <p:pic>
        <p:nvPicPr>
          <p:cNvPr id="120" name="Google Shape;120;p1" descr="chart_DISPOSITIVOS_ANTIPANICO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77432" y="4428278"/>
            <a:ext cx="2983174" cy="1333416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"/>
          <p:cNvSpPr/>
          <p:nvPr/>
        </p:nvSpPr>
        <p:spPr>
          <a:xfrm>
            <a:off x="6373368" y="5814263"/>
            <a:ext cx="5678400" cy="777300"/>
          </a:xfrm>
          <a:prstGeom prst="roundRect">
            <a:avLst>
              <a:gd name="adj" fmla="val 3000"/>
            </a:avLst>
          </a:prstGeom>
          <a:solidFill>
            <a:srgbClr val="0F2A3A"/>
          </a:solidFill>
          <a:ln w="9525" cap="flat" cmpd="sng">
            <a:solidFill>
              <a:srgbClr val="267CA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"/>
          <p:cNvSpPr txBox="1"/>
          <p:nvPr/>
        </p:nvSpPr>
        <p:spPr>
          <a:xfrm>
            <a:off x="6428232" y="5869127"/>
            <a:ext cx="5568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✅  CONCLUSIONES  •  </a:t>
            </a:r>
            <a:r>
              <a:rPr lang="en-US" sz="700" b="1" i="0" u="none" strike="noStrike" cap="none" dirty="0" err="1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Certificada</a:t>
            </a:r>
            <a:r>
              <a:rPr lang="en-US" sz="7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 ISO 9001:2015 — TÜV </a:t>
            </a:r>
            <a:r>
              <a:rPr lang="en-US" sz="700" b="1" i="0" u="none" strike="noStrike" cap="none" dirty="0" err="1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Rheinland</a:t>
            </a:r>
            <a:endParaRPr sz="1600" dirty="0"/>
          </a:p>
        </p:txBody>
      </p:sp>
      <p:sp>
        <p:nvSpPr>
          <p:cNvPr id="123" name="Google Shape;123;p1"/>
          <p:cNvSpPr txBox="1"/>
          <p:nvPr/>
        </p:nvSpPr>
        <p:spPr>
          <a:xfrm>
            <a:off x="6428232" y="5997143"/>
            <a:ext cx="5568600" cy="3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2026: incorporada a Auditorías ISO 9001:2015 bajo Dpto. Coordinación Operativa</a:t>
            </a:r>
            <a:endParaRPr sz="160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🔜 Próximo paso: integrar SIMEI (Surely) y SAE para trazabilidad automática</a:t>
            </a:r>
            <a:endParaRPr sz="1600"/>
          </a:p>
        </p:txBody>
      </p:sp>
      <p:sp>
        <p:nvSpPr>
          <p:cNvPr id="124" name="Google Shape;124;p1"/>
          <p:cNvSpPr txBox="1"/>
          <p:nvPr/>
        </p:nvSpPr>
        <p:spPr>
          <a:xfrm>
            <a:off x="274320" y="6656832"/>
            <a:ext cx="11640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Informe 2026  •  Policía de la Ciudad  •  Superintendencia Prevención y Gestión de Emergencias  •  Certificación ISO 9001:2015 — TÜV Rheinland Cert. N° 01 10006 2129714</a:t>
            </a:r>
            <a:endParaRPr sz="1500">
              <a:solidFill>
                <a:srgbClr val="CFD7E7"/>
              </a:solidFill>
            </a:endParaRPr>
          </a:p>
        </p:txBody>
      </p:sp>
      <p:pic>
        <p:nvPicPr>
          <p:cNvPr id="125" name="Google Shape;125;p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73375" y="710451"/>
            <a:ext cx="548624" cy="548624"/>
          </a:xfrm>
          <a:prstGeom prst="rect">
            <a:avLst/>
          </a:prstGeom>
          <a:solidFill>
            <a:srgbClr val="0A1218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</p:pic>
      <p:sp>
        <p:nvSpPr>
          <p:cNvPr id="3" name="Google Shape;109;p1">
            <a:extLst>
              <a:ext uri="{FF2B5EF4-FFF2-40B4-BE49-F238E27FC236}">
                <a16:creationId xmlns:a16="http://schemas.microsoft.com/office/drawing/2014/main" id="{E4415A6B-AB2E-12D6-5FF9-64A99A8777E0}"/>
              </a:ext>
            </a:extLst>
          </p:cNvPr>
          <p:cNvSpPr txBox="1"/>
          <p:nvPr/>
        </p:nvSpPr>
        <p:spPr>
          <a:xfrm>
            <a:off x="6328342" y="1469984"/>
            <a:ext cx="26928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👥  FUERZA EFECTIVA: 104 </a:t>
            </a:r>
            <a:r>
              <a:rPr lang="en-US" sz="900" b="1" i="0" u="none" strike="noStrike" cap="none" dirty="0" err="1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efectivos</a:t>
            </a:r>
            <a:endParaRPr sz="1700" dirty="0"/>
          </a:p>
        </p:txBody>
      </p:sp>
      <p:sp>
        <p:nvSpPr>
          <p:cNvPr id="5" name="Google Shape;110;p1">
            <a:extLst>
              <a:ext uri="{FF2B5EF4-FFF2-40B4-BE49-F238E27FC236}">
                <a16:creationId xmlns:a16="http://schemas.microsoft.com/office/drawing/2014/main" id="{3E569B3A-D02C-72A3-86F6-1A189EEDD924}"/>
              </a:ext>
            </a:extLst>
          </p:cNvPr>
          <p:cNvSpPr txBox="1"/>
          <p:nvPr/>
        </p:nvSpPr>
        <p:spPr>
          <a:xfrm>
            <a:off x="9793441" y="1852261"/>
            <a:ext cx="2400427" cy="549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Gestión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Dispositivos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Antipánico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Pulseras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Tobilleras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Monitoreo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Dispositivos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judicializados</a:t>
            </a:r>
            <a:r>
              <a:rPr lang="en-US" sz="8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 dirty="0"/>
          </a:p>
        </p:txBody>
      </p:sp>
      <p:sp>
        <p:nvSpPr>
          <p:cNvPr id="11" name="Google Shape;109;p1">
            <a:extLst>
              <a:ext uri="{FF2B5EF4-FFF2-40B4-BE49-F238E27FC236}">
                <a16:creationId xmlns:a16="http://schemas.microsoft.com/office/drawing/2014/main" id="{00D7B72D-A1EA-3AA0-1FF8-45E803D4D0DE}"/>
              </a:ext>
            </a:extLst>
          </p:cNvPr>
          <p:cNvSpPr txBox="1"/>
          <p:nvPr/>
        </p:nvSpPr>
        <p:spPr>
          <a:xfrm>
            <a:off x="402300" y="1454500"/>
            <a:ext cx="26928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👥  FUERZA EFECTIVA: 253 </a:t>
            </a:r>
            <a:r>
              <a:rPr lang="en-US" sz="900" b="1" i="0" u="none" strike="noStrike" cap="none" dirty="0" err="1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efectivos</a:t>
            </a:r>
            <a:endParaRPr sz="1700" dirty="0"/>
          </a:p>
        </p:txBody>
      </p:sp>
      <p:sp>
        <p:nvSpPr>
          <p:cNvPr id="13" name="Google Shape;109;p1">
            <a:extLst>
              <a:ext uri="{FF2B5EF4-FFF2-40B4-BE49-F238E27FC236}">
                <a16:creationId xmlns:a16="http://schemas.microsoft.com/office/drawing/2014/main" id="{D8416C00-0E98-101B-AE40-479EC96A7AC9}"/>
              </a:ext>
            </a:extLst>
          </p:cNvPr>
          <p:cNvSpPr txBox="1"/>
          <p:nvPr/>
        </p:nvSpPr>
        <p:spPr>
          <a:xfrm>
            <a:off x="3337236" y="1587238"/>
            <a:ext cx="26928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800" b="1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✅</a:t>
            </a:r>
            <a:r>
              <a:rPr lang="en-US" sz="9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900" b="1" i="0" u="none" strike="noStrike" cap="none" dirty="0" err="1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 sz="1700" dirty="0"/>
          </a:p>
        </p:txBody>
      </p:sp>
      <p:sp>
        <p:nvSpPr>
          <p:cNvPr id="15" name="Google Shape;109;p1">
            <a:extLst>
              <a:ext uri="{FF2B5EF4-FFF2-40B4-BE49-F238E27FC236}">
                <a16:creationId xmlns:a16="http://schemas.microsoft.com/office/drawing/2014/main" id="{94D7FDDC-4838-9C5A-1290-D2641F7F2435}"/>
              </a:ext>
            </a:extLst>
          </p:cNvPr>
          <p:cNvSpPr txBox="1"/>
          <p:nvPr/>
        </p:nvSpPr>
        <p:spPr>
          <a:xfrm>
            <a:off x="9742965" y="1690474"/>
            <a:ext cx="26928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800" b="1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✅</a:t>
            </a:r>
            <a:r>
              <a:rPr lang="en-US" sz="9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900" b="1" i="0" u="none" strike="noStrike" cap="none" dirty="0" err="1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492</Words>
  <Application>Microsoft Office PowerPoint</Application>
  <PresentationFormat>Personalizado</PresentationFormat>
  <Paragraphs>97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Manuel Chanourdie Llevilao</cp:lastModifiedBy>
  <cp:revision>5</cp:revision>
  <dcterms:created xsi:type="dcterms:W3CDTF">2013-01-27T09:14:16Z</dcterms:created>
  <dcterms:modified xsi:type="dcterms:W3CDTF">2026-09-09T13:02:43Z</dcterms:modified>
</cp:coreProperties>
</file>