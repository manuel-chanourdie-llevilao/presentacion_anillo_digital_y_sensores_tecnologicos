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8" roundtripDataSignature="AMtx7mjVTY0SwYksGIJtVe/PY0KRRsAe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2CD297-068B-45B0-BC44-D5CC68EE365D}">
  <a:tblStyle styleId="{152CD297-068B-45B0-BC44-D5CC68EE365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090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74320" y="109728"/>
            <a:ext cx="1164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 y Sensores Tecnológicos  —  Informe 2026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274320" y="384048"/>
            <a:ext cx="116403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Superintendencia de Prevención y Gestión de Emergencias  •  Dirección Videoseguridad  •  Departamento Coordinación Operativa</a:t>
            </a:r>
            <a:endParaRPr sz="1600"/>
          </a:p>
        </p:txBody>
      </p:sp>
      <p:sp>
        <p:nvSpPr>
          <p:cNvPr id="87" name="Google Shape;87;p1"/>
          <p:cNvSpPr/>
          <p:nvPr/>
        </p:nvSpPr>
        <p:spPr>
          <a:xfrm>
            <a:off x="457200" y="621792"/>
            <a:ext cx="11274552" cy="12700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219075" y="703707"/>
            <a:ext cx="5898000" cy="5898000"/>
          </a:xfrm>
          <a:prstGeom prst="roundRect">
            <a:avLst>
              <a:gd fmla="val 2000" name="adj"/>
            </a:avLst>
          </a:prstGeom>
          <a:solidFill>
            <a:srgbClr val="0A1218"/>
          </a:solidFill>
          <a:ln cap="flat" cmpd="sng" w="12700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4.png"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700" y="714400"/>
            <a:ext cx="548625" cy="5486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868680" y="822960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</a:t>
            </a:r>
            <a:endParaRPr sz="1700"/>
          </a:p>
        </p:txBody>
      </p:sp>
      <p:sp>
        <p:nvSpPr>
          <p:cNvPr id="91" name="Google Shape;91;p1"/>
          <p:cNvSpPr txBox="1"/>
          <p:nvPr/>
        </p:nvSpPr>
        <p:spPr>
          <a:xfrm>
            <a:off x="868680" y="1005840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700" u="none" cap="none" strike="noStrik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Capacidades  •  Resultados 2025 vs 2026  •  Gráficos</a:t>
            </a:r>
            <a:endParaRPr sz="1600">
              <a:solidFill>
                <a:srgbClr val="CFD7E7"/>
              </a:solidFill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38328" y="1280160"/>
            <a:ext cx="5678424" cy="868680"/>
          </a:xfrm>
          <a:prstGeom prst="roundRect">
            <a:avLst>
              <a:gd fmla="val 3000" name="adj"/>
            </a:avLst>
          </a:prstGeom>
          <a:solidFill>
            <a:srgbClr val="121E2E"/>
          </a:solidFill>
          <a:ln cap="flat" cmpd="sng" w="9525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3192" y="1335024"/>
            <a:ext cx="55686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🏗️  CAPACIDADES OPERATIVAS</a:t>
            </a:r>
            <a:endParaRPr sz="1700"/>
          </a:p>
        </p:txBody>
      </p:sp>
      <p:sp>
        <p:nvSpPr>
          <p:cNvPr id="94" name="Google Shape;94;p1"/>
          <p:cNvSpPr txBox="1"/>
          <p:nvPr/>
        </p:nvSpPr>
        <p:spPr>
          <a:xfrm>
            <a:off x="393192" y="1481328"/>
            <a:ext cx="2651700" cy="5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2 Centros de Monitoreo de Patentes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886 Lectores de Patentes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75 Cámaras 24/7  •  43 móviles  •  254 efectivos</a:t>
            </a:r>
            <a:endParaRPr sz="1700"/>
          </a:p>
        </p:txBody>
      </p:sp>
      <p:sp>
        <p:nvSpPr>
          <p:cNvPr id="95" name="Google Shape;95;p1"/>
          <p:cNvSpPr txBox="1"/>
          <p:nvPr/>
        </p:nvSpPr>
        <p:spPr>
          <a:xfrm>
            <a:off x="3154680" y="1386078"/>
            <a:ext cx="26517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Detención de vehículos con impedimento legal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Detección temprana en tiempo real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Monitoreo y verificación de alarmas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Coordinación interinstitucional</a:t>
            </a:r>
            <a:endParaRPr sz="1700"/>
          </a:p>
        </p:txBody>
      </p:sp>
      <p:sp>
        <p:nvSpPr>
          <p:cNvPr id="96" name="Google Shape;96;p1"/>
          <p:cNvSpPr txBox="1"/>
          <p:nvPr/>
        </p:nvSpPr>
        <p:spPr>
          <a:xfrm>
            <a:off x="395878" y="2259429"/>
            <a:ext cx="4527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/>
          </a:p>
        </p:txBody>
      </p:sp>
      <p:graphicFrame>
        <p:nvGraphicFramePr>
          <p:cNvPr id="97" name="Google Shape;97;p1"/>
          <p:cNvGraphicFramePr/>
          <p:nvPr/>
        </p:nvGraphicFramePr>
        <p:xfrm>
          <a:off x="942428" y="2539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{152CD297-068B-45B0-BC44-D5CC68EE365D}</a:tableStyleId>
              </a:tblPr>
              <a:tblGrid>
                <a:gridCol w="2091725"/>
                <a:gridCol w="713100"/>
                <a:gridCol w="713100"/>
                <a:gridCol w="713100"/>
              </a:tblGrid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Intercept. c/ secuestro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247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23.5%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Aprehendidos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314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8.3%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Actuaciones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1.696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3.092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82.4%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3.039.520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3.166.212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4.2%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 atendidas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665.039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1.753.812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163.8%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Prom. Incremento Personal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17.2%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</a:tbl>
          </a:graphicData>
        </a:graphic>
      </p:graphicFrame>
      <p:sp>
        <p:nvSpPr>
          <p:cNvPr id="98" name="Google Shape;98;p1"/>
          <p:cNvSpPr txBox="1"/>
          <p:nvPr/>
        </p:nvSpPr>
        <p:spPr>
          <a:xfrm>
            <a:off x="338328" y="404481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PROCEDIMIENTOS</a:t>
            </a:r>
            <a:endParaRPr sz="1500"/>
          </a:p>
        </p:txBody>
      </p:sp>
      <p:pic>
        <p:nvPicPr>
          <p:cNvPr descr="chart_PROCEDIMIENTOS.png" id="99" name="Google Shape;9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9425" y="4241875"/>
            <a:ext cx="2983174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3214116" y="404481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endParaRPr sz="1500"/>
          </a:p>
        </p:txBody>
      </p:sp>
      <p:pic>
        <p:nvPicPr>
          <p:cNvPr descr="chart_ALARMAS.png" id="101" name="Google Shape;101;p1"/>
          <p:cNvPicPr preferRelativeResize="0"/>
          <p:nvPr/>
        </p:nvPicPr>
        <p:blipFill rotWithShape="1">
          <a:blip r:embed="rId5">
            <a:alphaModFix/>
          </a:blip>
          <a:srcRect b="0" l="0" r="2334" t="0"/>
          <a:stretch/>
        </p:blipFill>
        <p:spPr>
          <a:xfrm>
            <a:off x="3131575" y="4260925"/>
            <a:ext cx="2913626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/>
          <p:nvPr/>
        </p:nvSpPr>
        <p:spPr>
          <a:xfrm>
            <a:off x="338328" y="5680710"/>
            <a:ext cx="5678400" cy="777300"/>
          </a:xfrm>
          <a:prstGeom prst="roundRect">
            <a:avLst>
              <a:gd fmla="val 3000" name="adj"/>
            </a:avLst>
          </a:prstGeom>
          <a:solidFill>
            <a:srgbClr val="0F2A3A"/>
          </a:solidFill>
          <a:ln cap="flat" cmpd="sng" w="9525">
            <a:solidFill>
              <a:srgbClr val="267CA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393192" y="5735574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ISO 9001:2015 ininterrumpida desde 2019 — TÜV Rheinland Cert. N° 01 10006 2129714</a:t>
            </a:r>
            <a:endParaRPr sz="1600"/>
          </a:p>
        </p:txBody>
      </p:sp>
      <p:sp>
        <p:nvSpPr>
          <p:cNvPr id="104" name="Google Shape;104;p1"/>
          <p:cNvSpPr txBox="1"/>
          <p:nvPr/>
        </p:nvSpPr>
        <p:spPr>
          <a:xfrm>
            <a:off x="393192" y="5863590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+163.8% alarmas atendidas por refuerzo de personal  •  +82.4% actuaciones por renovación de flota</a:t>
            </a:r>
            <a:endParaRPr sz="16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🚁 Próximo paso: drones para seguimiento vehicular y cobertura aérea</a:t>
            </a:r>
            <a:endParaRPr sz="1600"/>
          </a:p>
        </p:txBody>
      </p:sp>
      <p:sp>
        <p:nvSpPr>
          <p:cNvPr id="105" name="Google Shape;105;p1"/>
          <p:cNvSpPr/>
          <p:nvPr/>
        </p:nvSpPr>
        <p:spPr>
          <a:xfrm>
            <a:off x="6263640" y="713232"/>
            <a:ext cx="5897880" cy="5897880"/>
          </a:xfrm>
          <a:prstGeom prst="roundRect">
            <a:avLst>
              <a:gd fmla="val 2000" name="adj"/>
            </a:avLst>
          </a:prstGeom>
          <a:solidFill>
            <a:srgbClr val="0A1218"/>
          </a:solidFill>
          <a:ln cap="flat" cmpd="sng" w="12700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6903720" y="797560"/>
            <a:ext cx="3474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SENSORES TECNOLÓGICOS</a:t>
            </a:r>
            <a:endParaRPr sz="1700"/>
          </a:p>
        </p:txBody>
      </p:sp>
      <p:sp>
        <p:nvSpPr>
          <p:cNvPr id="107" name="Google Shape;107;p1"/>
          <p:cNvSpPr txBox="1"/>
          <p:nvPr/>
        </p:nvSpPr>
        <p:spPr>
          <a:xfrm>
            <a:off x="6903720" y="1005840"/>
            <a:ext cx="3474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700" u="none" cap="none" strike="noStrik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Fuerza Efectiva  •  Resultados 2025 vs 2026  •  Gráficos</a:t>
            </a:r>
            <a:endParaRPr sz="700">
              <a:solidFill>
                <a:srgbClr val="CFD7E7"/>
              </a:solidFill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373368" y="1280160"/>
            <a:ext cx="2802636" cy="868680"/>
          </a:xfrm>
          <a:prstGeom prst="roundRect">
            <a:avLst>
              <a:gd fmla="val 3000" name="adj"/>
            </a:avLst>
          </a:prstGeom>
          <a:solidFill>
            <a:srgbClr val="121E2E"/>
          </a:solidFill>
          <a:ln cap="flat" cmpd="sng" w="9525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6428232" y="133502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104 efectivos</a:t>
            </a:r>
            <a:endParaRPr sz="1700"/>
          </a:p>
        </p:txBody>
      </p:sp>
      <p:sp>
        <p:nvSpPr>
          <p:cNvPr id="110" name="Google Shape;110;p1"/>
          <p:cNvSpPr txBox="1"/>
          <p:nvPr/>
        </p:nvSpPr>
        <p:spPr>
          <a:xfrm>
            <a:off x="6373375" y="1481325"/>
            <a:ext cx="28575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1 Centro de Monitoreo</a:t>
            </a:r>
            <a:endParaRPr sz="16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Gestión de Dispositivos Antipánico, Pulseras y Tobilleras</a:t>
            </a:r>
            <a:endParaRPr sz="16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Monitoreo de Dispositivos judicializados</a:t>
            </a:r>
            <a:endParaRPr sz="1600"/>
          </a:p>
        </p:txBody>
      </p:sp>
      <p:sp>
        <p:nvSpPr>
          <p:cNvPr id="111" name="Google Shape;111;p1"/>
          <p:cNvSpPr/>
          <p:nvPr/>
        </p:nvSpPr>
        <p:spPr>
          <a:xfrm>
            <a:off x="9249156" y="1280160"/>
            <a:ext cx="2802636" cy="868680"/>
          </a:xfrm>
          <a:prstGeom prst="roundRect">
            <a:avLst>
              <a:gd fmla="val 3000" name="adj"/>
            </a:avLst>
          </a:prstGeom>
          <a:solidFill>
            <a:srgbClr val="121E2E"/>
          </a:solidFill>
          <a:ln cap="flat" cmpd="sng" w="9525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 txBox="1"/>
          <p:nvPr/>
        </p:nvSpPr>
        <p:spPr>
          <a:xfrm>
            <a:off x="9304020" y="1335024"/>
            <a:ext cx="2692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🏛️  DEPENDENCIA Y ORGANIZACIÓN</a:t>
            </a:r>
            <a:endParaRPr sz="1700"/>
          </a:p>
        </p:txBody>
      </p:sp>
      <p:sp>
        <p:nvSpPr>
          <p:cNvPr id="113" name="Google Shape;113;p1"/>
          <p:cNvSpPr txBox="1"/>
          <p:nvPr/>
        </p:nvSpPr>
        <p:spPr>
          <a:xfrm>
            <a:off x="9304020" y="1481328"/>
            <a:ext cx="2692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Depende del Dpto. Coordinación Operativa (art. 176°)</a:t>
            </a:r>
            <a:endParaRPr sz="1600"/>
          </a:p>
        </p:txBody>
      </p:sp>
      <p:sp>
        <p:nvSpPr>
          <p:cNvPr id="114" name="Google Shape;114;p1"/>
          <p:cNvSpPr txBox="1"/>
          <p:nvPr/>
        </p:nvSpPr>
        <p:spPr>
          <a:xfrm>
            <a:off x="9304020" y="1664208"/>
            <a:ext cx="2692800" cy="4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Sección Dispositivos Antipánico: 40</a:t>
            </a:r>
            <a:endParaRPr sz="17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Sección Pulseras y Tobilleras: 48</a:t>
            </a:r>
            <a:endParaRPr sz="1700"/>
          </a:p>
        </p:txBody>
      </p:sp>
      <p:sp>
        <p:nvSpPr>
          <p:cNvPr id="115" name="Google Shape;115;p1"/>
          <p:cNvSpPr txBox="1"/>
          <p:nvPr/>
        </p:nvSpPr>
        <p:spPr>
          <a:xfrm>
            <a:off x="6481318" y="2221992"/>
            <a:ext cx="5678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/>
          </a:p>
        </p:txBody>
      </p:sp>
      <p:graphicFrame>
        <p:nvGraphicFramePr>
          <p:cNvPr id="116" name="Google Shape;116;p1"/>
          <p:cNvGraphicFramePr/>
          <p:nvPr/>
        </p:nvGraphicFramePr>
        <p:xfrm>
          <a:off x="6913118" y="250799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{152CD297-068B-45B0-BC44-D5CC68EE365D}</a:tableStyleId>
              </a:tblPr>
              <a:tblGrid>
                <a:gridCol w="2011675"/>
                <a:gridCol w="685800"/>
                <a:gridCol w="685800"/>
                <a:gridCol w="685800"/>
              </a:tblGrid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2E4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Disp. Antipánico Monitoreados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26.207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31.620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20.7%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Accionamiento Disp. Antipánico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7.339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6.549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8717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↓ 10.8%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Disp. Antipánico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32.9%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 y Tobilleras Monit.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3.349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3.581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6.9%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Cant. Alertas Pulseras/Tobill.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657.710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662.653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0.8%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E2E"/>
                    </a:solidFill>
                  </a:tcPr>
                </a:tc>
              </a:tr>
              <a:tr h="17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Pulseras/Tobill.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122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31.2%</a:t>
                      </a:r>
                      <a:endParaRPr sz="1600"/>
                    </a:p>
                  </a:txBody>
                  <a:tcPr marT="45725" marB="45725" marR="27425" marL="27425" anchor="ctr">
                    <a:lnL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8888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21A22"/>
                    </a:solidFill>
                  </a:tcPr>
                </a:tc>
              </a:tr>
            </a:tbl>
          </a:graphicData>
        </a:graphic>
      </p:graphicFrame>
      <p:sp>
        <p:nvSpPr>
          <p:cNvPr id="117" name="Google Shape;117;p1"/>
          <p:cNvSpPr txBox="1"/>
          <p:nvPr/>
        </p:nvSpPr>
        <p:spPr>
          <a:xfrm>
            <a:off x="6373368" y="4056888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PULSERAS Y TOBILLERAS</a:t>
            </a:r>
            <a:endParaRPr sz="1500"/>
          </a:p>
        </p:txBody>
      </p:sp>
      <p:pic>
        <p:nvPicPr>
          <p:cNvPr descr="chart_PULSERAS_Y_TOBILLERAS.png" id="118" name="Google Shape;118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90825" y="4208775"/>
            <a:ext cx="2983174" cy="133342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"/>
          <p:cNvSpPr txBox="1"/>
          <p:nvPr/>
        </p:nvSpPr>
        <p:spPr>
          <a:xfrm>
            <a:off x="9249156" y="4056888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DISPOSITIVOS ANTIPÁNICO</a:t>
            </a:r>
            <a:endParaRPr sz="1500"/>
          </a:p>
        </p:txBody>
      </p:sp>
      <p:pic>
        <p:nvPicPr>
          <p:cNvPr descr="chart_DISPOSITIVOS_ANTIPANICO.png" id="120" name="Google Shape;120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49150" y="4208775"/>
            <a:ext cx="2983174" cy="133341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6373368" y="5706110"/>
            <a:ext cx="5678400" cy="777300"/>
          </a:xfrm>
          <a:prstGeom prst="roundRect">
            <a:avLst>
              <a:gd fmla="val 3000" name="adj"/>
            </a:avLst>
          </a:prstGeom>
          <a:solidFill>
            <a:srgbClr val="0F2A3A"/>
          </a:solidFill>
          <a:ln cap="flat" cmpd="sng" w="9525">
            <a:solidFill>
              <a:srgbClr val="267CA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"/>
          <p:cNvSpPr txBox="1"/>
          <p:nvPr/>
        </p:nvSpPr>
        <p:spPr>
          <a:xfrm>
            <a:off x="6428232" y="5760974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Certificada ISO 9001:2015 — TÜV Rheinland</a:t>
            </a:r>
            <a:endParaRPr sz="1600"/>
          </a:p>
        </p:txBody>
      </p:sp>
      <p:sp>
        <p:nvSpPr>
          <p:cNvPr id="123" name="Google Shape;123;p1"/>
          <p:cNvSpPr txBox="1"/>
          <p:nvPr/>
        </p:nvSpPr>
        <p:spPr>
          <a:xfrm>
            <a:off x="6428232" y="5888990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2026: incorporada a Auditorías ISO 9001:2015 bajo Dpto. Coordinación Operativa</a:t>
            </a:r>
            <a:endParaRPr sz="1600"/>
          </a:p>
          <a:p>
            <a:pPr indent="0" lvl="0" marL="0" marR="0" rtl="0" algn="l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🔜 Próximo paso: integrar SIMEI (Surely) y SAE para trazabilidad automática</a:t>
            </a:r>
            <a:endParaRPr sz="1600"/>
          </a:p>
        </p:txBody>
      </p:sp>
      <p:sp>
        <p:nvSpPr>
          <p:cNvPr id="124" name="Google Shape;124;p1"/>
          <p:cNvSpPr txBox="1"/>
          <p:nvPr/>
        </p:nvSpPr>
        <p:spPr>
          <a:xfrm>
            <a:off x="274320" y="6656832"/>
            <a:ext cx="116403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Informe 2026  •  Policía de la Ciudad  •  Superintendencia Prevención y Gestión de Emergencias  •  Certificación ISO 9001:2015 — TÜV Rheinland Cert. N° 01 10006 2129714</a:t>
            </a:r>
            <a:endParaRPr sz="1500">
              <a:solidFill>
                <a:srgbClr val="CFD7E7"/>
              </a:solidFill>
            </a:endParaRPr>
          </a:p>
        </p:txBody>
      </p:sp>
      <p:pic>
        <p:nvPicPr>
          <p:cNvPr id="125" name="Google Shape;125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3375" y="710451"/>
            <a:ext cx="548624" cy="548624"/>
          </a:xfrm>
          <a:prstGeom prst="rect">
            <a:avLst/>
          </a:prstGeom>
          <a:solidFill>
            <a:srgbClr val="0A1218"/>
          </a:solidFill>
          <a:ln cap="flat" cmpd="sng" w="12700">
            <a:solidFill>
              <a:srgbClr val="2373A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