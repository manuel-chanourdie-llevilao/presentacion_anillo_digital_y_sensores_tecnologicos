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12188825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8" roundtripDataSignature="AMtx7mjVTY0SwYksGIJtVe/PY0KRRsAem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152CD297-068B-45B0-BC44-D5CC68EE365D}">
  <a:tblStyle styleId="{152CD297-068B-45B0-BC44-D5CC68EE365D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8ECF4"/>
          </a:solidFill>
        </a:fill>
      </a:tcStyle>
    </a:wholeTbl>
    <a:band1H>
      <a:tcTxStyle/>
      <a:tcStyle>
        <a:tcBdr/>
        <a:fill>
          <a:solidFill>
            <a:srgbClr val="CFD7E7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CFD7E7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100" d="100"/>
          <a:sy n="100" d="100"/>
        </p:scale>
        <p:origin x="10" y="-408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customschemas.google.com/relationships/presentationmetadata" Target="metadata"/><Relationship Id="rId3" Type="http://schemas.openxmlformats.org/officeDocument/2006/relationships/notesMaster" Target="notesMasters/notesMaster1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11" Type="http://schemas.openxmlformats.org/officeDocument/2006/relationships/theme" Target="theme/theme1.xml"/><Relationship Id="rId10" Type="http://schemas.openxmlformats.org/officeDocument/2006/relationships/viewProps" Target="viewProps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2588" y="685800"/>
            <a:ext cx="60928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3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3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3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"/>
          <p:cNvSpPr txBox="1"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4"/>
          <p:cNvSpPr txBox="1"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5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6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sz="40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6"/>
          <p:cNvSpPr txBox="1"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7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7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6" name="Google Shape;36;p7"/>
          <p:cNvSpPr txBox="1">
            <a:spLocks noGrp="1"/>
          </p:cNvSpPr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7" name="Google Shape;37;p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8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8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8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4" name="Google Shape;44;p8"/>
          <p:cNvSpPr txBox="1"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8"/>
          <p:cNvSpPr txBox="1">
            <a:spLocks noGrp="1"/>
          </p:cNvSpPr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6" name="Google Shape;46;p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9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0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10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10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58" name="Google Shape;58;p1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1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1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1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1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1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5" name="Google Shape;65;p1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2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2"/>
          <p:cNvSpPr txBox="1">
            <a:spLocks noGrp="1"/>
          </p:cNvSpPr>
          <p:nvPr>
            <p:ph type="body" idx="1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3"/>
          <p:cNvSpPr txBox="1"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3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3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3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3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2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2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90A"/>
        </a:solid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"/>
          <p:cNvSpPr/>
          <p:nvPr/>
        </p:nvSpPr>
        <p:spPr>
          <a:xfrm>
            <a:off x="0" y="0"/>
            <a:ext cx="12188952" cy="36576"/>
          </a:xfrm>
          <a:prstGeom prst="rect">
            <a:avLst/>
          </a:prstGeom>
          <a:solidFill>
            <a:srgbClr val="2373AA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" name="Google Shape;85;p1"/>
          <p:cNvSpPr txBox="1"/>
          <p:nvPr/>
        </p:nvSpPr>
        <p:spPr>
          <a:xfrm>
            <a:off x="274320" y="109728"/>
            <a:ext cx="116403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i="0" u="none" strike="noStrike" cap="none">
                <a:solidFill>
                  <a:srgbClr val="2373AA"/>
                </a:solidFill>
                <a:latin typeface="Calibri"/>
                <a:ea typeface="Calibri"/>
                <a:cs typeface="Calibri"/>
                <a:sym typeface="Calibri"/>
              </a:rPr>
              <a:t>División Anillo Digital y Sensores Tecnológicos  —  Informe 2026</a:t>
            </a:r>
            <a:endParaRPr/>
          </a:p>
        </p:txBody>
      </p:sp>
      <p:sp>
        <p:nvSpPr>
          <p:cNvPr id="86" name="Google Shape;86;p1"/>
          <p:cNvSpPr txBox="1"/>
          <p:nvPr/>
        </p:nvSpPr>
        <p:spPr>
          <a:xfrm>
            <a:off x="274320" y="384048"/>
            <a:ext cx="11640300" cy="23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7DC1E5"/>
                </a:solidFill>
                <a:latin typeface="Calibri"/>
                <a:ea typeface="Calibri"/>
                <a:cs typeface="Calibri"/>
                <a:sym typeface="Calibri"/>
              </a:rPr>
              <a:t>Superintendencia de Prevención y Gestión de Emergencias  •  Dirección Videoseguridad  •  Departamento Coordinación Operativa</a:t>
            </a:r>
            <a:endParaRPr sz="1600"/>
          </a:p>
        </p:txBody>
      </p:sp>
      <p:sp>
        <p:nvSpPr>
          <p:cNvPr id="87" name="Google Shape;87;p1"/>
          <p:cNvSpPr/>
          <p:nvPr/>
        </p:nvSpPr>
        <p:spPr>
          <a:xfrm>
            <a:off x="457200" y="621792"/>
            <a:ext cx="11274552" cy="12700"/>
          </a:xfrm>
          <a:prstGeom prst="rect">
            <a:avLst/>
          </a:prstGeom>
          <a:solidFill>
            <a:srgbClr val="2373AA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" name="Google Shape;88;p1"/>
          <p:cNvSpPr/>
          <p:nvPr/>
        </p:nvSpPr>
        <p:spPr>
          <a:xfrm>
            <a:off x="219075" y="703707"/>
            <a:ext cx="5898000" cy="5898000"/>
          </a:xfrm>
          <a:prstGeom prst="roundRect">
            <a:avLst>
              <a:gd name="adj" fmla="val 2000"/>
            </a:avLst>
          </a:prstGeom>
          <a:solidFill>
            <a:srgbClr val="0A1218"/>
          </a:solidFill>
          <a:ln w="12700" cap="flat" cmpd="sng">
            <a:solidFill>
              <a:srgbClr val="2373AA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89" name="Google Shape;89;p1" descr="04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46700" y="714400"/>
            <a:ext cx="548625" cy="548625"/>
          </a:xfrm>
          <a:prstGeom prst="rect">
            <a:avLst/>
          </a:prstGeom>
          <a:noFill/>
          <a:ln>
            <a:noFill/>
          </a:ln>
        </p:spPr>
      </p:pic>
      <p:sp>
        <p:nvSpPr>
          <p:cNvPr id="90" name="Google Shape;90;p1"/>
          <p:cNvSpPr txBox="1"/>
          <p:nvPr/>
        </p:nvSpPr>
        <p:spPr>
          <a:xfrm>
            <a:off x="868680" y="822960"/>
            <a:ext cx="3200400" cy="27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2373AA"/>
                </a:solidFill>
                <a:latin typeface="Calibri"/>
                <a:ea typeface="Calibri"/>
                <a:cs typeface="Calibri"/>
                <a:sym typeface="Calibri"/>
              </a:rPr>
              <a:t>DIVISIÓN ANILLO DIGITAL</a:t>
            </a:r>
            <a:endParaRPr sz="1700"/>
          </a:p>
        </p:txBody>
      </p:sp>
      <p:sp>
        <p:nvSpPr>
          <p:cNvPr id="91" name="Google Shape;91;p1"/>
          <p:cNvSpPr txBox="1"/>
          <p:nvPr/>
        </p:nvSpPr>
        <p:spPr>
          <a:xfrm>
            <a:off x="868680" y="1005840"/>
            <a:ext cx="3200400" cy="20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1" u="none" strike="noStrike" cap="none">
                <a:solidFill>
                  <a:srgbClr val="CFD7E7"/>
                </a:solidFill>
                <a:latin typeface="Calibri"/>
                <a:ea typeface="Calibri"/>
                <a:cs typeface="Calibri"/>
                <a:sym typeface="Calibri"/>
              </a:rPr>
              <a:t>Capacidades  •  Resultados 2025 vs 2026  •  Gráficos</a:t>
            </a:r>
            <a:endParaRPr sz="1600">
              <a:solidFill>
                <a:srgbClr val="CFD7E7"/>
              </a:solidFill>
            </a:endParaRPr>
          </a:p>
        </p:txBody>
      </p:sp>
      <p:sp>
        <p:nvSpPr>
          <p:cNvPr id="92" name="Google Shape;92;p1"/>
          <p:cNvSpPr/>
          <p:nvPr/>
        </p:nvSpPr>
        <p:spPr>
          <a:xfrm>
            <a:off x="338328" y="1280159"/>
            <a:ext cx="5678424" cy="1145885"/>
          </a:xfrm>
          <a:prstGeom prst="roundRect">
            <a:avLst>
              <a:gd name="adj" fmla="val 3000"/>
            </a:avLst>
          </a:prstGeom>
          <a:solidFill>
            <a:srgbClr val="121E2E"/>
          </a:solidFill>
          <a:ln w="9525" cap="flat" cmpd="sng">
            <a:solidFill>
              <a:srgbClr val="2373AA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" name="Google Shape;93;p1"/>
          <p:cNvSpPr txBox="1"/>
          <p:nvPr/>
        </p:nvSpPr>
        <p:spPr>
          <a:xfrm>
            <a:off x="393192" y="1304544"/>
            <a:ext cx="5568600" cy="23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1" i="0" u="none" strike="noStrike" cap="none" dirty="0">
                <a:solidFill>
                  <a:srgbClr val="7DC1E5"/>
                </a:solidFill>
                <a:latin typeface="Calibri"/>
                <a:ea typeface="Calibri"/>
                <a:cs typeface="Calibri"/>
                <a:sym typeface="Calibri"/>
              </a:rPr>
              <a:t>🏗️  CAPACIDADES OPERATIVAS</a:t>
            </a:r>
            <a:endParaRPr sz="1700" dirty="0"/>
          </a:p>
        </p:txBody>
      </p:sp>
      <p:sp>
        <p:nvSpPr>
          <p:cNvPr id="94" name="Google Shape;94;p1"/>
          <p:cNvSpPr txBox="1"/>
          <p:nvPr/>
        </p:nvSpPr>
        <p:spPr>
          <a:xfrm>
            <a:off x="393192" y="1481328"/>
            <a:ext cx="3051048" cy="8636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16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i="0" u="none" strike="noStrike" cap="none" dirty="0">
                <a:solidFill>
                  <a:srgbClr val="E8F1F8"/>
                </a:solidFill>
                <a:latin typeface="Calibri"/>
                <a:ea typeface="Calibri"/>
                <a:cs typeface="Calibri"/>
                <a:sym typeface="Calibri"/>
              </a:rPr>
              <a:t>▸  Posee 2 Centros de </a:t>
            </a:r>
            <a:r>
              <a:rPr lang="en-US" sz="800" b="1" i="0" u="none" strike="noStrike" cap="none" dirty="0" err="1">
                <a:solidFill>
                  <a:srgbClr val="E8F1F8"/>
                </a:solidFill>
                <a:latin typeface="Calibri"/>
                <a:ea typeface="Calibri"/>
                <a:cs typeface="Calibri"/>
                <a:sym typeface="Calibri"/>
              </a:rPr>
              <a:t>Monitoreo</a:t>
            </a:r>
            <a:r>
              <a:rPr lang="en-US" sz="800" b="1" i="0" u="none" strike="noStrike" cap="none" dirty="0">
                <a:solidFill>
                  <a:srgbClr val="E8F1F8"/>
                </a:solidFill>
                <a:latin typeface="Calibri"/>
                <a:ea typeface="Calibri"/>
                <a:cs typeface="Calibri"/>
                <a:sym typeface="Calibri"/>
              </a:rPr>
              <a:t> de </a:t>
            </a:r>
            <a:r>
              <a:rPr lang="en-US" sz="800" b="1" i="0" u="none" strike="noStrike" cap="none" dirty="0" err="1">
                <a:solidFill>
                  <a:srgbClr val="E8F1F8"/>
                </a:solidFill>
                <a:latin typeface="Calibri"/>
                <a:ea typeface="Calibri"/>
                <a:cs typeface="Calibri"/>
                <a:sym typeface="Calibri"/>
              </a:rPr>
              <a:t>Patentes</a:t>
            </a:r>
            <a:r>
              <a:rPr lang="en-US" sz="800" b="1" i="0" u="none" strike="noStrike" cap="none" dirty="0">
                <a:solidFill>
                  <a:srgbClr val="E8F1F8"/>
                </a:solidFill>
                <a:latin typeface="Calibri"/>
                <a:ea typeface="Calibri"/>
                <a:cs typeface="Calibri"/>
                <a:sym typeface="Calibri"/>
              </a:rPr>
              <a:t> (Norte - Sur)</a:t>
            </a:r>
            <a:endParaRPr sz="800" dirty="0"/>
          </a:p>
          <a:p>
            <a:pPr marL="0" marR="0" lvl="0" indent="0" algn="l" rtl="0">
              <a:lnSpc>
                <a:spcPct val="116666"/>
              </a:lnSpc>
              <a:spcBef>
                <a:spcPts val="100"/>
              </a:spcBef>
              <a:spcAft>
                <a:spcPts val="0"/>
              </a:spcAft>
              <a:buNone/>
            </a:pPr>
            <a:r>
              <a:rPr lang="en-US" sz="800" b="1" i="0" u="none" strike="noStrike" cap="none" dirty="0">
                <a:solidFill>
                  <a:srgbClr val="E8F1F8"/>
                </a:solidFill>
                <a:latin typeface="Calibri"/>
                <a:ea typeface="Calibri"/>
                <a:cs typeface="Calibri"/>
                <a:sym typeface="Calibri"/>
              </a:rPr>
              <a:t>▸  886 </a:t>
            </a:r>
            <a:r>
              <a:rPr lang="en-US" sz="800" b="1" i="0" u="none" strike="noStrike" cap="none" dirty="0" err="1">
                <a:solidFill>
                  <a:srgbClr val="E8F1F8"/>
                </a:solidFill>
                <a:latin typeface="Calibri"/>
                <a:ea typeface="Calibri"/>
                <a:cs typeface="Calibri"/>
                <a:sym typeface="Calibri"/>
              </a:rPr>
              <a:t>Lectores</a:t>
            </a:r>
            <a:r>
              <a:rPr lang="en-US" sz="800" b="1" i="0" u="none" strike="noStrike" cap="none" dirty="0">
                <a:solidFill>
                  <a:srgbClr val="E8F1F8"/>
                </a:solidFill>
                <a:latin typeface="Calibri"/>
                <a:ea typeface="Calibri"/>
                <a:cs typeface="Calibri"/>
                <a:sym typeface="Calibri"/>
              </a:rPr>
              <a:t> de </a:t>
            </a:r>
            <a:r>
              <a:rPr lang="en-US" sz="800" b="1" i="0" u="none" strike="noStrike" cap="none" dirty="0" err="1">
                <a:solidFill>
                  <a:srgbClr val="E8F1F8"/>
                </a:solidFill>
                <a:latin typeface="Calibri"/>
                <a:ea typeface="Calibri"/>
                <a:cs typeface="Calibri"/>
                <a:sym typeface="Calibri"/>
              </a:rPr>
              <a:t>Patentes</a:t>
            </a:r>
            <a:r>
              <a:rPr lang="en-US" sz="800" b="1" i="0" u="none" strike="noStrike" cap="none" dirty="0">
                <a:solidFill>
                  <a:srgbClr val="E8F1F8"/>
                </a:solidFill>
                <a:latin typeface="Calibri"/>
                <a:ea typeface="Calibri"/>
                <a:cs typeface="Calibri"/>
                <a:sym typeface="Calibri"/>
              </a:rPr>
              <a:t> (DAD 798 – AUSA 88)</a:t>
            </a:r>
            <a:endParaRPr sz="800" dirty="0"/>
          </a:p>
          <a:p>
            <a:pPr marL="0" marR="0" lvl="0" indent="0" algn="l" rtl="0">
              <a:lnSpc>
                <a:spcPct val="116666"/>
              </a:lnSpc>
              <a:spcBef>
                <a:spcPts val="100"/>
              </a:spcBef>
              <a:spcAft>
                <a:spcPts val="0"/>
              </a:spcAft>
              <a:buNone/>
            </a:pPr>
            <a:r>
              <a:rPr lang="en-US" sz="800" b="1" i="0" u="none" strike="noStrike" cap="none" dirty="0">
                <a:solidFill>
                  <a:srgbClr val="E8F1F8"/>
                </a:solidFill>
                <a:latin typeface="Calibri"/>
                <a:ea typeface="Calibri"/>
                <a:cs typeface="Calibri"/>
                <a:sym typeface="Calibri"/>
              </a:rPr>
              <a:t>▸  75 </a:t>
            </a:r>
            <a:r>
              <a:rPr lang="en-US" sz="800" b="1" i="0" u="none" strike="noStrike" cap="none" dirty="0" err="1">
                <a:solidFill>
                  <a:srgbClr val="E8F1F8"/>
                </a:solidFill>
                <a:latin typeface="Calibri"/>
                <a:ea typeface="Calibri"/>
                <a:cs typeface="Calibri"/>
                <a:sym typeface="Calibri"/>
              </a:rPr>
              <a:t>Cámaras</a:t>
            </a:r>
            <a:r>
              <a:rPr lang="en-US" sz="800" b="1" i="0" u="none" strike="noStrike" cap="none" dirty="0">
                <a:solidFill>
                  <a:srgbClr val="E8F1F8"/>
                </a:solidFill>
                <a:latin typeface="Calibri"/>
                <a:ea typeface="Calibri"/>
                <a:cs typeface="Calibri"/>
                <a:sym typeface="Calibri"/>
              </a:rPr>
              <a:t> 24/7  (DOMOS 25 – FIJAS 50)</a:t>
            </a:r>
          </a:p>
          <a:p>
            <a:pPr marL="0" marR="0" lvl="0" indent="0" algn="l" rtl="0">
              <a:lnSpc>
                <a:spcPct val="116666"/>
              </a:lnSpc>
              <a:spcBef>
                <a:spcPts val="100"/>
              </a:spcBef>
              <a:spcAft>
                <a:spcPts val="0"/>
              </a:spcAft>
              <a:buNone/>
            </a:pPr>
            <a:r>
              <a:rPr lang="en-US" sz="800" b="1" i="0" u="none" strike="noStrike" cap="none" dirty="0">
                <a:solidFill>
                  <a:srgbClr val="E8F1F8"/>
                </a:solidFill>
                <a:latin typeface="Calibri"/>
                <a:ea typeface="Calibri"/>
                <a:cs typeface="Calibri"/>
                <a:sym typeface="Calibri"/>
              </a:rPr>
              <a:t>•  43 </a:t>
            </a:r>
            <a:r>
              <a:rPr lang="en-US" sz="800" b="1" i="0" u="none" strike="noStrike" cap="none" dirty="0" err="1">
                <a:solidFill>
                  <a:srgbClr val="E8F1F8"/>
                </a:solidFill>
                <a:latin typeface="Calibri"/>
                <a:ea typeface="Calibri"/>
                <a:cs typeface="Calibri"/>
                <a:sym typeface="Calibri"/>
              </a:rPr>
              <a:t>móviles</a:t>
            </a:r>
            <a:r>
              <a:rPr lang="en-US" sz="800" b="1" i="0" u="none" strike="noStrike" cap="none" dirty="0">
                <a:solidFill>
                  <a:srgbClr val="E8F1F8"/>
                </a:solidFill>
                <a:latin typeface="Calibri"/>
                <a:ea typeface="Calibri"/>
                <a:cs typeface="Calibri"/>
                <a:sym typeface="Calibri"/>
              </a:rPr>
              <a:t> (MOTO 28 – AUTO 4 – CAMIONETA 10 – TRASLADO 1)</a:t>
            </a:r>
          </a:p>
          <a:p>
            <a:pPr marL="0" marR="0" lvl="0" indent="0" algn="l" rtl="0">
              <a:lnSpc>
                <a:spcPct val="116666"/>
              </a:lnSpc>
              <a:spcBef>
                <a:spcPts val="100"/>
              </a:spcBef>
              <a:spcAft>
                <a:spcPts val="0"/>
              </a:spcAft>
              <a:buNone/>
            </a:pPr>
            <a:r>
              <a:rPr lang="en-US" sz="800" b="1" i="0" u="none" strike="noStrike" cap="none" dirty="0">
                <a:solidFill>
                  <a:srgbClr val="E8F1F8"/>
                </a:solidFill>
                <a:latin typeface="Calibri"/>
                <a:ea typeface="Calibri"/>
                <a:cs typeface="Calibri"/>
                <a:sym typeface="Calibri"/>
              </a:rPr>
              <a:t>•  254 </a:t>
            </a:r>
            <a:r>
              <a:rPr lang="en-US" sz="800" b="1" i="0" u="none" strike="noStrike" cap="none" dirty="0" err="1">
                <a:solidFill>
                  <a:srgbClr val="E8F1F8"/>
                </a:solidFill>
                <a:latin typeface="Calibri"/>
                <a:ea typeface="Calibri"/>
                <a:cs typeface="Calibri"/>
                <a:sym typeface="Calibri"/>
              </a:rPr>
              <a:t>efectivos</a:t>
            </a:r>
            <a:r>
              <a:rPr lang="en-US" sz="800" b="1" i="0" u="none" strike="noStrike" cap="none">
                <a:solidFill>
                  <a:srgbClr val="E8F1F8"/>
                </a:solidFill>
                <a:latin typeface="Calibri"/>
                <a:ea typeface="Calibri"/>
                <a:cs typeface="Calibri"/>
                <a:sym typeface="Calibri"/>
              </a:rPr>
              <a:t> (POLICIAL 154 – AUXILIAR 15 – CONTRATADO 84)</a:t>
            </a:r>
            <a:endParaRPr sz="800" dirty="0"/>
          </a:p>
        </p:txBody>
      </p:sp>
      <p:sp>
        <p:nvSpPr>
          <p:cNvPr id="95" name="Google Shape;95;p1"/>
          <p:cNvSpPr txBox="1"/>
          <p:nvPr/>
        </p:nvSpPr>
        <p:spPr>
          <a:xfrm>
            <a:off x="3390900" y="1416558"/>
            <a:ext cx="2651700" cy="75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16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 dirty="0">
                <a:solidFill>
                  <a:srgbClr val="B8B8B8"/>
                </a:solidFill>
                <a:latin typeface="Calibri"/>
                <a:ea typeface="Calibri"/>
                <a:cs typeface="Calibri"/>
                <a:sym typeface="Calibri"/>
              </a:rPr>
              <a:t>▸  </a:t>
            </a:r>
            <a:r>
              <a:rPr lang="en-US" sz="900" b="0" i="0" u="none" strike="noStrike" cap="none" dirty="0" err="1">
                <a:solidFill>
                  <a:srgbClr val="B8B8B8"/>
                </a:solidFill>
                <a:latin typeface="Calibri"/>
                <a:ea typeface="Calibri"/>
                <a:cs typeface="Calibri"/>
                <a:sym typeface="Calibri"/>
              </a:rPr>
              <a:t>Detención</a:t>
            </a:r>
            <a:r>
              <a:rPr lang="en-US" sz="900" b="0" i="0" u="none" strike="noStrike" cap="none" dirty="0">
                <a:solidFill>
                  <a:srgbClr val="B8B8B8"/>
                </a:solidFill>
                <a:latin typeface="Calibri"/>
                <a:ea typeface="Calibri"/>
                <a:cs typeface="Calibri"/>
                <a:sym typeface="Calibri"/>
              </a:rPr>
              <a:t> de </a:t>
            </a:r>
            <a:r>
              <a:rPr lang="en-US" sz="900" b="0" i="0" u="none" strike="noStrike" cap="none" dirty="0" err="1">
                <a:solidFill>
                  <a:srgbClr val="B8B8B8"/>
                </a:solidFill>
                <a:latin typeface="Calibri"/>
                <a:ea typeface="Calibri"/>
                <a:cs typeface="Calibri"/>
                <a:sym typeface="Calibri"/>
              </a:rPr>
              <a:t>vehículos</a:t>
            </a:r>
            <a:r>
              <a:rPr lang="en-US" sz="900" b="0" i="0" u="none" strike="noStrike" cap="none" dirty="0">
                <a:solidFill>
                  <a:srgbClr val="B8B8B8"/>
                </a:solidFill>
                <a:latin typeface="Calibri"/>
                <a:ea typeface="Calibri"/>
                <a:cs typeface="Calibri"/>
                <a:sym typeface="Calibri"/>
              </a:rPr>
              <a:t> con </a:t>
            </a:r>
            <a:r>
              <a:rPr lang="en-US" sz="900" b="0" i="0" u="none" strike="noStrike" cap="none" dirty="0" err="1">
                <a:solidFill>
                  <a:srgbClr val="B8B8B8"/>
                </a:solidFill>
                <a:latin typeface="Calibri"/>
                <a:ea typeface="Calibri"/>
                <a:cs typeface="Calibri"/>
                <a:sym typeface="Calibri"/>
              </a:rPr>
              <a:t>impedimento</a:t>
            </a:r>
            <a:r>
              <a:rPr lang="en-US" sz="900" b="0" i="0" u="none" strike="noStrike" cap="none" dirty="0">
                <a:solidFill>
                  <a:srgbClr val="B8B8B8"/>
                </a:solidFill>
                <a:latin typeface="Calibri"/>
                <a:ea typeface="Calibri"/>
                <a:cs typeface="Calibri"/>
                <a:sym typeface="Calibri"/>
              </a:rPr>
              <a:t> legal</a:t>
            </a:r>
            <a:endParaRPr sz="1700" dirty="0"/>
          </a:p>
          <a:p>
            <a:pPr marL="0" marR="0" lvl="0" indent="0" algn="l" rtl="0">
              <a:lnSpc>
                <a:spcPct val="116666"/>
              </a:lnSpc>
              <a:spcBef>
                <a:spcPts val="100"/>
              </a:spcBef>
              <a:spcAft>
                <a:spcPts val="0"/>
              </a:spcAft>
              <a:buNone/>
            </a:pPr>
            <a:r>
              <a:rPr lang="en-US" sz="900" b="0" i="0" u="none" strike="noStrike" cap="none" dirty="0">
                <a:solidFill>
                  <a:srgbClr val="B8B8B8"/>
                </a:solidFill>
                <a:latin typeface="Calibri"/>
                <a:ea typeface="Calibri"/>
                <a:cs typeface="Calibri"/>
                <a:sym typeface="Calibri"/>
              </a:rPr>
              <a:t>▸  </a:t>
            </a:r>
            <a:r>
              <a:rPr lang="en-US" sz="900" b="0" i="0" u="none" strike="noStrike" cap="none" dirty="0" err="1">
                <a:solidFill>
                  <a:srgbClr val="B8B8B8"/>
                </a:solidFill>
                <a:latin typeface="Calibri"/>
                <a:ea typeface="Calibri"/>
                <a:cs typeface="Calibri"/>
                <a:sym typeface="Calibri"/>
              </a:rPr>
              <a:t>Detección</a:t>
            </a:r>
            <a:r>
              <a:rPr lang="en-US" sz="900" b="0" i="0" u="none" strike="noStrike" cap="none" dirty="0">
                <a:solidFill>
                  <a:srgbClr val="B8B8B8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900" b="0" i="0" u="none" strike="noStrike" cap="none" dirty="0" err="1">
                <a:solidFill>
                  <a:srgbClr val="B8B8B8"/>
                </a:solidFill>
                <a:latin typeface="Calibri"/>
                <a:ea typeface="Calibri"/>
                <a:cs typeface="Calibri"/>
                <a:sym typeface="Calibri"/>
              </a:rPr>
              <a:t>temprana</a:t>
            </a:r>
            <a:r>
              <a:rPr lang="en-US" sz="900" b="0" i="0" u="none" strike="noStrike" cap="none" dirty="0">
                <a:solidFill>
                  <a:srgbClr val="B8B8B8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900" b="0" i="0" u="none" strike="noStrike" cap="none" dirty="0" err="1">
                <a:solidFill>
                  <a:srgbClr val="B8B8B8"/>
                </a:solidFill>
                <a:latin typeface="Calibri"/>
                <a:ea typeface="Calibri"/>
                <a:cs typeface="Calibri"/>
                <a:sym typeface="Calibri"/>
              </a:rPr>
              <a:t>en</a:t>
            </a:r>
            <a:r>
              <a:rPr lang="en-US" sz="900" b="0" i="0" u="none" strike="noStrike" cap="none" dirty="0">
                <a:solidFill>
                  <a:srgbClr val="B8B8B8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900" b="0" i="0" u="none" strike="noStrike" cap="none" dirty="0" err="1">
                <a:solidFill>
                  <a:srgbClr val="B8B8B8"/>
                </a:solidFill>
                <a:latin typeface="Calibri"/>
                <a:ea typeface="Calibri"/>
                <a:cs typeface="Calibri"/>
                <a:sym typeface="Calibri"/>
              </a:rPr>
              <a:t>tiempo</a:t>
            </a:r>
            <a:r>
              <a:rPr lang="en-US" sz="900" b="0" i="0" u="none" strike="noStrike" cap="none" dirty="0">
                <a:solidFill>
                  <a:srgbClr val="B8B8B8"/>
                </a:solidFill>
                <a:latin typeface="Calibri"/>
                <a:ea typeface="Calibri"/>
                <a:cs typeface="Calibri"/>
                <a:sym typeface="Calibri"/>
              </a:rPr>
              <a:t> real</a:t>
            </a:r>
            <a:endParaRPr sz="1700" dirty="0"/>
          </a:p>
          <a:p>
            <a:pPr marL="0" marR="0" lvl="0" indent="0" algn="l" rtl="0">
              <a:lnSpc>
                <a:spcPct val="116666"/>
              </a:lnSpc>
              <a:spcBef>
                <a:spcPts val="100"/>
              </a:spcBef>
              <a:spcAft>
                <a:spcPts val="0"/>
              </a:spcAft>
              <a:buNone/>
            </a:pPr>
            <a:r>
              <a:rPr lang="en-US" sz="900" b="0" i="0" u="none" strike="noStrike" cap="none" dirty="0">
                <a:solidFill>
                  <a:srgbClr val="B8B8B8"/>
                </a:solidFill>
                <a:latin typeface="Calibri"/>
                <a:ea typeface="Calibri"/>
                <a:cs typeface="Calibri"/>
                <a:sym typeface="Calibri"/>
              </a:rPr>
              <a:t>▸  </a:t>
            </a:r>
            <a:r>
              <a:rPr lang="en-US" sz="900" b="0" i="0" u="none" strike="noStrike" cap="none" dirty="0" err="1">
                <a:solidFill>
                  <a:srgbClr val="B8B8B8"/>
                </a:solidFill>
                <a:latin typeface="Calibri"/>
                <a:ea typeface="Calibri"/>
                <a:cs typeface="Calibri"/>
                <a:sym typeface="Calibri"/>
              </a:rPr>
              <a:t>Monitoreo</a:t>
            </a:r>
            <a:r>
              <a:rPr lang="en-US" sz="900" b="0" i="0" u="none" strike="noStrike" cap="none" dirty="0">
                <a:solidFill>
                  <a:srgbClr val="B8B8B8"/>
                </a:solidFill>
                <a:latin typeface="Calibri"/>
                <a:ea typeface="Calibri"/>
                <a:cs typeface="Calibri"/>
                <a:sym typeface="Calibri"/>
              </a:rPr>
              <a:t> y </a:t>
            </a:r>
            <a:r>
              <a:rPr lang="en-US" sz="900" b="0" i="0" u="none" strike="noStrike" cap="none" dirty="0" err="1">
                <a:solidFill>
                  <a:srgbClr val="B8B8B8"/>
                </a:solidFill>
                <a:latin typeface="Calibri"/>
                <a:ea typeface="Calibri"/>
                <a:cs typeface="Calibri"/>
                <a:sym typeface="Calibri"/>
              </a:rPr>
              <a:t>verificación</a:t>
            </a:r>
            <a:r>
              <a:rPr lang="en-US" sz="900" b="0" i="0" u="none" strike="noStrike" cap="none" dirty="0">
                <a:solidFill>
                  <a:srgbClr val="B8B8B8"/>
                </a:solidFill>
                <a:latin typeface="Calibri"/>
                <a:ea typeface="Calibri"/>
                <a:cs typeface="Calibri"/>
                <a:sym typeface="Calibri"/>
              </a:rPr>
              <a:t> de </a:t>
            </a:r>
            <a:r>
              <a:rPr lang="en-US" sz="900" b="0" i="0" u="none" strike="noStrike" cap="none" dirty="0" err="1">
                <a:solidFill>
                  <a:srgbClr val="B8B8B8"/>
                </a:solidFill>
                <a:latin typeface="Calibri"/>
                <a:ea typeface="Calibri"/>
                <a:cs typeface="Calibri"/>
                <a:sym typeface="Calibri"/>
              </a:rPr>
              <a:t>alarmas</a:t>
            </a:r>
            <a:endParaRPr sz="1700" dirty="0"/>
          </a:p>
          <a:p>
            <a:pPr marL="0" marR="0" lvl="0" indent="0" algn="l" rtl="0">
              <a:lnSpc>
                <a:spcPct val="116666"/>
              </a:lnSpc>
              <a:spcBef>
                <a:spcPts val="100"/>
              </a:spcBef>
              <a:spcAft>
                <a:spcPts val="0"/>
              </a:spcAft>
              <a:buNone/>
            </a:pPr>
            <a:r>
              <a:rPr lang="en-US" sz="900" b="0" i="0" u="none" strike="noStrike" cap="none" dirty="0">
                <a:solidFill>
                  <a:srgbClr val="B8B8B8"/>
                </a:solidFill>
                <a:latin typeface="Calibri"/>
                <a:ea typeface="Calibri"/>
                <a:cs typeface="Calibri"/>
                <a:sym typeface="Calibri"/>
              </a:rPr>
              <a:t>▸  </a:t>
            </a:r>
            <a:r>
              <a:rPr lang="en-US" sz="900" b="0" i="0" u="none" strike="noStrike" cap="none" dirty="0" err="1">
                <a:solidFill>
                  <a:srgbClr val="B8B8B8"/>
                </a:solidFill>
                <a:latin typeface="Calibri"/>
                <a:ea typeface="Calibri"/>
                <a:cs typeface="Calibri"/>
                <a:sym typeface="Calibri"/>
              </a:rPr>
              <a:t>Coordinación</a:t>
            </a:r>
            <a:r>
              <a:rPr lang="en-US" sz="900" b="0" i="0" u="none" strike="noStrike" cap="none" dirty="0">
                <a:solidFill>
                  <a:srgbClr val="B8B8B8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900" b="0" i="0" u="none" strike="noStrike" cap="none" dirty="0" err="1">
                <a:solidFill>
                  <a:srgbClr val="B8B8B8"/>
                </a:solidFill>
                <a:latin typeface="Calibri"/>
                <a:ea typeface="Calibri"/>
                <a:cs typeface="Calibri"/>
                <a:sym typeface="Calibri"/>
              </a:rPr>
              <a:t>interinstitucional</a:t>
            </a:r>
            <a:endParaRPr sz="1700" dirty="0"/>
          </a:p>
        </p:txBody>
      </p:sp>
      <p:sp>
        <p:nvSpPr>
          <p:cNvPr id="96" name="Google Shape;96;p1"/>
          <p:cNvSpPr txBox="1"/>
          <p:nvPr/>
        </p:nvSpPr>
        <p:spPr>
          <a:xfrm>
            <a:off x="393192" y="2426045"/>
            <a:ext cx="45276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i="0" u="none" strike="noStrike" cap="none">
                <a:solidFill>
                  <a:srgbClr val="7DC1E5"/>
                </a:solidFill>
                <a:latin typeface="Calibri"/>
                <a:ea typeface="Calibri"/>
                <a:cs typeface="Calibri"/>
                <a:sym typeface="Calibri"/>
              </a:rPr>
              <a:t>📊  RESULTADOS 2025 vs 2026  •  ENE – AGO</a:t>
            </a:r>
            <a:endParaRPr sz="1600"/>
          </a:p>
        </p:txBody>
      </p:sp>
      <p:graphicFrame>
        <p:nvGraphicFramePr>
          <p:cNvPr id="97" name="Google Shape;97;p1"/>
          <p:cNvGraphicFramePr/>
          <p:nvPr>
            <p:extLst>
              <p:ext uri="{D42A27DB-BD31-4B8C-83A1-F6EECF244321}">
                <p14:modId xmlns:p14="http://schemas.microsoft.com/office/powerpoint/2010/main" val="4173426416"/>
              </p:ext>
            </p:extLst>
          </p:nvPr>
        </p:nvGraphicFramePr>
        <p:xfrm>
          <a:off x="942428" y="2654180"/>
          <a:ext cx="4231025" cy="1440250"/>
        </p:xfrm>
        <a:graphic>
          <a:graphicData uri="http://schemas.openxmlformats.org/drawingml/2006/table">
            <a:tbl>
              <a:tblPr firstRow="1" bandRow="1">
                <a:noFill/>
                <a:tableStyleId>{152CD297-068B-45B0-BC44-D5CC68EE365D}</a:tableStyleId>
              </a:tblPr>
              <a:tblGrid>
                <a:gridCol w="20917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131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131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131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763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50" b="1" u="none" strike="noStrike" cap="none">
                          <a:solidFill>
                            <a:srgbClr val="7DC1E5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Indicador</a:t>
                      </a:r>
                      <a:endParaRPr sz="1600"/>
                    </a:p>
                  </a:txBody>
                  <a:tcPr marL="27425" marR="27425" marT="45725" marB="45725" anchor="ctr">
                    <a:lnL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A2E4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50" b="1" u="none" strike="noStrike" cap="none">
                          <a:solidFill>
                            <a:srgbClr val="7DC1E5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2025</a:t>
                      </a:r>
                      <a:endParaRPr sz="1600"/>
                    </a:p>
                  </a:txBody>
                  <a:tcPr marL="27425" marR="27425" marT="45725" marB="45725" anchor="ctr">
                    <a:lnL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A2E4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50" b="1" u="none" strike="noStrike" cap="none">
                          <a:solidFill>
                            <a:srgbClr val="7DC1E5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2026</a:t>
                      </a:r>
                      <a:endParaRPr sz="1600"/>
                    </a:p>
                  </a:txBody>
                  <a:tcPr marL="27425" marR="27425" marT="45725" marB="45725" anchor="ctr">
                    <a:lnL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A2E4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50" b="1" u="none" strike="noStrike" cap="none">
                          <a:solidFill>
                            <a:srgbClr val="7DC1E5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Variación</a:t>
                      </a:r>
                      <a:endParaRPr sz="1600"/>
                    </a:p>
                  </a:txBody>
                  <a:tcPr marL="27425" marR="27425" marT="45725" marB="45725" anchor="ctr">
                    <a:lnL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A2E4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63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50" u="none" strike="noStrike" cap="none">
                          <a:solidFill>
                            <a:srgbClr val="E8F1F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Intercept. c/ secuestro</a:t>
                      </a:r>
                      <a:endParaRPr sz="1600"/>
                    </a:p>
                  </a:txBody>
                  <a:tcPr marL="27425" marR="27425" marT="45725" marB="45725" anchor="ctr">
                    <a:lnL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F1E2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50" u="none" strike="noStrike" cap="none">
                          <a:solidFill>
                            <a:srgbClr val="B8B8B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200</a:t>
                      </a:r>
                      <a:endParaRPr sz="1600"/>
                    </a:p>
                  </a:txBody>
                  <a:tcPr marL="27425" marR="27425" marT="45725" marB="45725" anchor="ctr">
                    <a:lnL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F1E2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50" u="none" strike="noStrike" cap="none">
                          <a:solidFill>
                            <a:srgbClr val="B8B8B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247</a:t>
                      </a:r>
                      <a:endParaRPr sz="1600"/>
                    </a:p>
                  </a:txBody>
                  <a:tcPr marL="27425" marR="27425" marT="45725" marB="45725" anchor="ctr">
                    <a:lnL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F1E2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50" b="1" u="none" strike="noStrike" cap="none">
                          <a:solidFill>
                            <a:srgbClr val="4ADE8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↑ 23.5%</a:t>
                      </a:r>
                      <a:endParaRPr sz="1600"/>
                    </a:p>
                  </a:txBody>
                  <a:tcPr marL="27425" marR="27425" marT="45725" marB="45725" anchor="ctr">
                    <a:lnL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F1E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63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50" u="none" strike="noStrike" cap="none">
                          <a:solidFill>
                            <a:srgbClr val="E8F1F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Aprehendidos</a:t>
                      </a:r>
                      <a:endParaRPr sz="1600"/>
                    </a:p>
                  </a:txBody>
                  <a:tcPr marL="27425" marR="27425" marT="45725" marB="45725" anchor="ctr">
                    <a:lnL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21A2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50" u="none" strike="noStrike" cap="none">
                          <a:solidFill>
                            <a:srgbClr val="B8B8B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290</a:t>
                      </a:r>
                      <a:endParaRPr sz="1600"/>
                    </a:p>
                  </a:txBody>
                  <a:tcPr marL="27425" marR="27425" marT="45725" marB="45725" anchor="ctr">
                    <a:lnL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21A2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50" u="none" strike="noStrike" cap="none">
                          <a:solidFill>
                            <a:srgbClr val="B8B8B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314</a:t>
                      </a:r>
                      <a:endParaRPr sz="1600"/>
                    </a:p>
                  </a:txBody>
                  <a:tcPr marL="27425" marR="27425" marT="45725" marB="45725" anchor="ctr">
                    <a:lnL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21A2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50" b="1" u="none" strike="noStrike" cap="none">
                          <a:solidFill>
                            <a:srgbClr val="4ADE8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↑ 8.3%</a:t>
                      </a:r>
                      <a:endParaRPr sz="1600"/>
                    </a:p>
                  </a:txBody>
                  <a:tcPr marL="27425" marR="27425" marT="45725" marB="45725" anchor="ctr">
                    <a:lnL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21A2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63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50" u="none" strike="noStrike" cap="none">
                          <a:solidFill>
                            <a:srgbClr val="E8F1F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Actuaciones</a:t>
                      </a:r>
                      <a:endParaRPr sz="1600"/>
                    </a:p>
                  </a:txBody>
                  <a:tcPr marL="27425" marR="27425" marT="45725" marB="45725" anchor="ctr">
                    <a:lnL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F1E2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50" u="none" strike="noStrike" cap="none">
                          <a:solidFill>
                            <a:srgbClr val="B8B8B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1.696</a:t>
                      </a:r>
                      <a:endParaRPr sz="1600"/>
                    </a:p>
                  </a:txBody>
                  <a:tcPr marL="27425" marR="27425" marT="45725" marB="45725" anchor="ctr">
                    <a:lnL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F1E2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50" u="none" strike="noStrike" cap="none">
                          <a:solidFill>
                            <a:srgbClr val="B8B8B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3.092</a:t>
                      </a:r>
                      <a:endParaRPr sz="1600"/>
                    </a:p>
                  </a:txBody>
                  <a:tcPr marL="27425" marR="27425" marT="45725" marB="45725" anchor="ctr">
                    <a:lnL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F1E2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50" b="1" u="none" strike="noStrike" cap="none">
                          <a:solidFill>
                            <a:srgbClr val="4ADE8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↑ 82.4%</a:t>
                      </a:r>
                      <a:endParaRPr sz="1600"/>
                    </a:p>
                  </a:txBody>
                  <a:tcPr marL="27425" marR="27425" marT="45725" marB="45725" anchor="ctr">
                    <a:lnL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F1E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63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50" u="none" strike="noStrike" cap="none">
                          <a:solidFill>
                            <a:srgbClr val="E8F1F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Alarmas</a:t>
                      </a:r>
                      <a:endParaRPr sz="1600"/>
                    </a:p>
                  </a:txBody>
                  <a:tcPr marL="27425" marR="27425" marT="45725" marB="45725" anchor="ctr">
                    <a:lnL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21A2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50" u="none" strike="noStrike" cap="none">
                          <a:solidFill>
                            <a:srgbClr val="B8B8B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3.039.520</a:t>
                      </a:r>
                      <a:endParaRPr sz="1600"/>
                    </a:p>
                  </a:txBody>
                  <a:tcPr marL="27425" marR="27425" marT="45725" marB="45725" anchor="ctr">
                    <a:lnL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21A2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50" u="none" strike="noStrike" cap="none">
                          <a:solidFill>
                            <a:srgbClr val="B8B8B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3.166.212</a:t>
                      </a:r>
                      <a:endParaRPr sz="1600"/>
                    </a:p>
                  </a:txBody>
                  <a:tcPr marL="27425" marR="27425" marT="45725" marB="45725" anchor="ctr">
                    <a:lnL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21A2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50" b="1" u="none" strike="noStrike" cap="none">
                          <a:solidFill>
                            <a:srgbClr val="4ADE8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↑ 4.2%</a:t>
                      </a:r>
                      <a:endParaRPr sz="1600"/>
                    </a:p>
                  </a:txBody>
                  <a:tcPr marL="27425" marR="27425" marT="45725" marB="45725" anchor="ctr">
                    <a:lnL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21A2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763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50" u="none" strike="noStrike" cap="none">
                          <a:solidFill>
                            <a:srgbClr val="E8F1F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Alarmas atendidas</a:t>
                      </a:r>
                      <a:endParaRPr sz="1600"/>
                    </a:p>
                  </a:txBody>
                  <a:tcPr marL="27425" marR="27425" marT="45725" marB="45725" anchor="ctr">
                    <a:lnL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F1E2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50" u="none" strike="noStrike" cap="none">
                          <a:solidFill>
                            <a:srgbClr val="B8B8B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665.039</a:t>
                      </a:r>
                      <a:endParaRPr sz="1600"/>
                    </a:p>
                  </a:txBody>
                  <a:tcPr marL="27425" marR="27425" marT="45725" marB="45725" anchor="ctr">
                    <a:lnL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F1E2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50" u="none" strike="noStrike" cap="none">
                          <a:solidFill>
                            <a:srgbClr val="B8B8B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1.753.812</a:t>
                      </a:r>
                      <a:endParaRPr sz="1600"/>
                    </a:p>
                  </a:txBody>
                  <a:tcPr marL="27425" marR="27425" marT="45725" marB="45725" anchor="ctr">
                    <a:lnL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F1E2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50" b="1" u="none" strike="noStrike" cap="none">
                          <a:solidFill>
                            <a:srgbClr val="4ADE8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↑ 163.8%</a:t>
                      </a:r>
                      <a:endParaRPr sz="1600"/>
                    </a:p>
                  </a:txBody>
                  <a:tcPr marL="27425" marR="27425" marT="45725" marB="45725" anchor="ctr">
                    <a:lnL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F1E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763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50" u="none" strike="noStrike" cap="none">
                          <a:solidFill>
                            <a:srgbClr val="E8F1F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Prom. Incremento Personal</a:t>
                      </a:r>
                      <a:endParaRPr sz="1600"/>
                    </a:p>
                  </a:txBody>
                  <a:tcPr marL="27425" marR="27425" marT="45725" marB="45725" anchor="ctr">
                    <a:lnL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21A2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50" u="none" strike="noStrike" cap="none">
                          <a:solidFill>
                            <a:srgbClr val="B8B8B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203</a:t>
                      </a:r>
                      <a:endParaRPr sz="1600"/>
                    </a:p>
                  </a:txBody>
                  <a:tcPr marL="27425" marR="27425" marT="45725" marB="45725" anchor="ctr">
                    <a:lnL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21A2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50" u="none" strike="noStrike" cap="none">
                          <a:solidFill>
                            <a:srgbClr val="B8B8B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238</a:t>
                      </a:r>
                      <a:endParaRPr sz="1600"/>
                    </a:p>
                  </a:txBody>
                  <a:tcPr marL="27425" marR="27425" marT="45725" marB="45725" anchor="ctr">
                    <a:lnL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21A2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50" b="1" u="none" strike="noStrike" cap="none" dirty="0">
                          <a:solidFill>
                            <a:srgbClr val="4ADE8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↑ 17.2%</a:t>
                      </a:r>
                      <a:endParaRPr sz="1600" dirty="0"/>
                    </a:p>
                  </a:txBody>
                  <a:tcPr marL="27425" marR="27425" marT="45725" marB="45725" anchor="ctr">
                    <a:lnL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21A2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98" name="Google Shape;98;p1"/>
          <p:cNvSpPr txBox="1"/>
          <p:nvPr/>
        </p:nvSpPr>
        <p:spPr>
          <a:xfrm>
            <a:off x="338328" y="4105774"/>
            <a:ext cx="2802600" cy="20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1" i="0" u="none" strike="noStrike" cap="none">
                <a:solidFill>
                  <a:srgbClr val="7DC1E5"/>
                </a:solidFill>
                <a:latin typeface="Calibri"/>
                <a:ea typeface="Calibri"/>
                <a:cs typeface="Calibri"/>
                <a:sym typeface="Calibri"/>
              </a:rPr>
              <a:t>PROCEDIMIENTOS</a:t>
            </a:r>
            <a:endParaRPr sz="1500"/>
          </a:p>
        </p:txBody>
      </p:sp>
      <p:pic>
        <p:nvPicPr>
          <p:cNvPr id="99" name="Google Shape;99;p1" descr="chart_PROCEDIMIENTOS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49425" y="4241875"/>
            <a:ext cx="2983174" cy="1333425"/>
          </a:xfrm>
          <a:prstGeom prst="rect">
            <a:avLst/>
          </a:prstGeom>
          <a:noFill/>
          <a:ln>
            <a:noFill/>
          </a:ln>
        </p:spPr>
      </p:pic>
      <p:sp>
        <p:nvSpPr>
          <p:cNvPr id="100" name="Google Shape;100;p1"/>
          <p:cNvSpPr txBox="1"/>
          <p:nvPr/>
        </p:nvSpPr>
        <p:spPr>
          <a:xfrm>
            <a:off x="3214116" y="4105774"/>
            <a:ext cx="2802600" cy="20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1" i="0" u="none" strike="noStrike" cap="none">
                <a:solidFill>
                  <a:srgbClr val="7DC1E5"/>
                </a:solidFill>
                <a:latin typeface="Calibri"/>
                <a:ea typeface="Calibri"/>
                <a:cs typeface="Calibri"/>
                <a:sym typeface="Calibri"/>
              </a:rPr>
              <a:t>ALARMAS</a:t>
            </a:r>
            <a:endParaRPr sz="1500"/>
          </a:p>
        </p:txBody>
      </p:sp>
      <p:pic>
        <p:nvPicPr>
          <p:cNvPr id="101" name="Google Shape;101;p1" descr="chart_ALARMAS.png"/>
          <p:cNvPicPr preferRelativeResize="0"/>
          <p:nvPr/>
        </p:nvPicPr>
        <p:blipFill rotWithShape="1">
          <a:blip r:embed="rId5">
            <a:alphaModFix/>
          </a:blip>
          <a:srcRect r="2334"/>
          <a:stretch/>
        </p:blipFill>
        <p:spPr>
          <a:xfrm>
            <a:off x="3131575" y="4260925"/>
            <a:ext cx="2913626" cy="1333425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p1"/>
          <p:cNvSpPr/>
          <p:nvPr/>
        </p:nvSpPr>
        <p:spPr>
          <a:xfrm>
            <a:off x="338328" y="5680710"/>
            <a:ext cx="5678400" cy="777300"/>
          </a:xfrm>
          <a:prstGeom prst="roundRect">
            <a:avLst>
              <a:gd name="adj" fmla="val 3000"/>
            </a:avLst>
          </a:prstGeom>
          <a:solidFill>
            <a:srgbClr val="0F2A3A"/>
          </a:solidFill>
          <a:ln w="9525" cap="flat" cmpd="sng">
            <a:solidFill>
              <a:srgbClr val="267CA2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" name="Google Shape;103;p1"/>
          <p:cNvSpPr txBox="1"/>
          <p:nvPr/>
        </p:nvSpPr>
        <p:spPr>
          <a:xfrm>
            <a:off x="393192" y="5735574"/>
            <a:ext cx="5568600" cy="20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1" i="0" u="none" strike="noStrike" cap="none">
                <a:solidFill>
                  <a:srgbClr val="7DC1E5"/>
                </a:solidFill>
                <a:latin typeface="Calibri"/>
                <a:ea typeface="Calibri"/>
                <a:cs typeface="Calibri"/>
                <a:sym typeface="Calibri"/>
              </a:rPr>
              <a:t>✅  CONCLUSIONES  •  ISO 9001:2015 ininterrumpida desde 2019 — TÜV Rheinland Cert. N° 01 10006 2129714</a:t>
            </a:r>
            <a:endParaRPr sz="1600"/>
          </a:p>
        </p:txBody>
      </p:sp>
      <p:sp>
        <p:nvSpPr>
          <p:cNvPr id="104" name="Google Shape;104;p1"/>
          <p:cNvSpPr txBox="1"/>
          <p:nvPr/>
        </p:nvSpPr>
        <p:spPr>
          <a:xfrm>
            <a:off x="393192" y="5863590"/>
            <a:ext cx="5568600" cy="37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16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 u="none" strike="noStrike" cap="none">
                <a:solidFill>
                  <a:srgbClr val="B8B8B8"/>
                </a:solidFill>
                <a:latin typeface="Calibri"/>
                <a:ea typeface="Calibri"/>
                <a:cs typeface="Calibri"/>
                <a:sym typeface="Calibri"/>
              </a:rPr>
              <a:t>▸  +163.8% alarmas atendidas por refuerzo de personal  •  +82.4% actuaciones por renovación de flota</a:t>
            </a:r>
            <a:endParaRPr sz="1600"/>
          </a:p>
          <a:p>
            <a:pPr marL="0" marR="0" lvl="0" indent="0" algn="l" rtl="0">
              <a:lnSpc>
                <a:spcPct val="116666"/>
              </a:lnSpc>
              <a:spcBef>
                <a:spcPts val="100"/>
              </a:spcBef>
              <a:spcAft>
                <a:spcPts val="0"/>
              </a:spcAft>
              <a:buNone/>
            </a:pPr>
            <a:r>
              <a:rPr lang="en-US" sz="800" b="0" i="0" u="none" strike="noStrike" cap="none">
                <a:solidFill>
                  <a:srgbClr val="B8B8B8"/>
                </a:solidFill>
                <a:latin typeface="Calibri"/>
                <a:ea typeface="Calibri"/>
                <a:cs typeface="Calibri"/>
                <a:sym typeface="Calibri"/>
              </a:rPr>
              <a:t>▸  🚁 Próximo paso: drones para seguimiento vehicular y cobertura aérea</a:t>
            </a:r>
            <a:endParaRPr sz="1600"/>
          </a:p>
        </p:txBody>
      </p:sp>
      <p:sp>
        <p:nvSpPr>
          <p:cNvPr id="105" name="Google Shape;105;p1"/>
          <p:cNvSpPr/>
          <p:nvPr/>
        </p:nvSpPr>
        <p:spPr>
          <a:xfrm>
            <a:off x="6263640" y="713232"/>
            <a:ext cx="5897880" cy="5897880"/>
          </a:xfrm>
          <a:prstGeom prst="roundRect">
            <a:avLst>
              <a:gd name="adj" fmla="val 2000"/>
            </a:avLst>
          </a:prstGeom>
          <a:solidFill>
            <a:srgbClr val="0A1218"/>
          </a:solidFill>
          <a:ln w="12700" cap="flat" cmpd="sng">
            <a:solidFill>
              <a:srgbClr val="2373AA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" name="Google Shape;106;p1"/>
          <p:cNvSpPr txBox="1"/>
          <p:nvPr/>
        </p:nvSpPr>
        <p:spPr>
          <a:xfrm>
            <a:off x="6903720" y="797560"/>
            <a:ext cx="3474600" cy="27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2373AA"/>
                </a:solidFill>
                <a:latin typeface="Calibri"/>
                <a:ea typeface="Calibri"/>
                <a:cs typeface="Calibri"/>
                <a:sym typeface="Calibri"/>
              </a:rPr>
              <a:t>DIVISIÓN SENSORES TECNOLÓGICOS</a:t>
            </a:r>
            <a:endParaRPr sz="1700"/>
          </a:p>
        </p:txBody>
      </p:sp>
      <p:sp>
        <p:nvSpPr>
          <p:cNvPr id="107" name="Google Shape;107;p1"/>
          <p:cNvSpPr txBox="1"/>
          <p:nvPr/>
        </p:nvSpPr>
        <p:spPr>
          <a:xfrm>
            <a:off x="6903720" y="1005840"/>
            <a:ext cx="3474600" cy="20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1" u="none" strike="noStrike" cap="none">
                <a:solidFill>
                  <a:srgbClr val="CFD7E7"/>
                </a:solidFill>
                <a:latin typeface="Calibri"/>
                <a:ea typeface="Calibri"/>
                <a:cs typeface="Calibri"/>
                <a:sym typeface="Calibri"/>
              </a:rPr>
              <a:t>Fuerza Efectiva  •  Resultados 2025 vs 2026  •  Gráficos</a:t>
            </a:r>
            <a:endParaRPr sz="700">
              <a:solidFill>
                <a:srgbClr val="CFD7E7"/>
              </a:solidFill>
            </a:endParaRPr>
          </a:p>
        </p:txBody>
      </p:sp>
      <p:sp>
        <p:nvSpPr>
          <p:cNvPr id="108" name="Google Shape;108;p1"/>
          <p:cNvSpPr/>
          <p:nvPr/>
        </p:nvSpPr>
        <p:spPr>
          <a:xfrm>
            <a:off x="6373368" y="1280160"/>
            <a:ext cx="2802636" cy="868680"/>
          </a:xfrm>
          <a:prstGeom prst="roundRect">
            <a:avLst>
              <a:gd name="adj" fmla="val 3000"/>
            </a:avLst>
          </a:prstGeom>
          <a:solidFill>
            <a:srgbClr val="121E2E"/>
          </a:solidFill>
          <a:ln w="9525" cap="flat" cmpd="sng">
            <a:solidFill>
              <a:srgbClr val="2373AA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9" name="Google Shape;109;p1"/>
          <p:cNvSpPr txBox="1"/>
          <p:nvPr/>
        </p:nvSpPr>
        <p:spPr>
          <a:xfrm>
            <a:off x="6428232" y="1335024"/>
            <a:ext cx="2692800" cy="23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1" i="0" u="none" strike="noStrike" cap="none">
                <a:solidFill>
                  <a:srgbClr val="7DC1E5"/>
                </a:solidFill>
                <a:latin typeface="Calibri"/>
                <a:ea typeface="Calibri"/>
                <a:cs typeface="Calibri"/>
                <a:sym typeface="Calibri"/>
              </a:rPr>
              <a:t>👥  FUERZA EFECTIVA: 104 efectivos</a:t>
            </a:r>
            <a:endParaRPr sz="1700"/>
          </a:p>
        </p:txBody>
      </p:sp>
      <p:sp>
        <p:nvSpPr>
          <p:cNvPr id="110" name="Google Shape;110;p1"/>
          <p:cNvSpPr txBox="1"/>
          <p:nvPr/>
        </p:nvSpPr>
        <p:spPr>
          <a:xfrm>
            <a:off x="6373375" y="1481325"/>
            <a:ext cx="2857500" cy="52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16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i="0" u="none" strike="noStrike" cap="none">
                <a:solidFill>
                  <a:srgbClr val="E8F1F8"/>
                </a:solidFill>
                <a:latin typeface="Calibri"/>
                <a:ea typeface="Calibri"/>
                <a:cs typeface="Calibri"/>
                <a:sym typeface="Calibri"/>
              </a:rPr>
              <a:t>▸  Posee 1 Centro de Monitoreo</a:t>
            </a:r>
            <a:endParaRPr sz="1600"/>
          </a:p>
          <a:p>
            <a:pPr marL="0" marR="0" lvl="0" indent="0" algn="l" rtl="0">
              <a:lnSpc>
                <a:spcPct val="116666"/>
              </a:lnSpc>
              <a:spcBef>
                <a:spcPts val="100"/>
              </a:spcBef>
              <a:spcAft>
                <a:spcPts val="0"/>
              </a:spcAft>
              <a:buNone/>
            </a:pPr>
            <a:r>
              <a:rPr lang="en-US" sz="800" b="0" i="0" u="none" strike="noStrike" cap="none">
                <a:solidFill>
                  <a:srgbClr val="B8B8B8"/>
                </a:solidFill>
                <a:latin typeface="Calibri"/>
                <a:ea typeface="Calibri"/>
                <a:cs typeface="Calibri"/>
                <a:sym typeface="Calibri"/>
              </a:rPr>
              <a:t>▸  Gestión de Dispositivos Antipánico, Pulseras y Tobilleras</a:t>
            </a:r>
            <a:endParaRPr sz="1600"/>
          </a:p>
          <a:p>
            <a:pPr marL="0" marR="0" lvl="0" indent="0" algn="l" rtl="0">
              <a:lnSpc>
                <a:spcPct val="116666"/>
              </a:lnSpc>
              <a:spcBef>
                <a:spcPts val="100"/>
              </a:spcBef>
              <a:spcAft>
                <a:spcPts val="0"/>
              </a:spcAft>
              <a:buNone/>
            </a:pPr>
            <a:r>
              <a:rPr lang="en-US" sz="800" b="0" i="0" u="none" strike="noStrike" cap="none">
                <a:solidFill>
                  <a:srgbClr val="B8B8B8"/>
                </a:solidFill>
                <a:latin typeface="Calibri"/>
                <a:ea typeface="Calibri"/>
                <a:cs typeface="Calibri"/>
                <a:sym typeface="Calibri"/>
              </a:rPr>
              <a:t>▸  Monitoreo de Dispositivos judicializados</a:t>
            </a:r>
            <a:endParaRPr sz="1600"/>
          </a:p>
        </p:txBody>
      </p:sp>
      <p:sp>
        <p:nvSpPr>
          <p:cNvPr id="111" name="Google Shape;111;p1"/>
          <p:cNvSpPr/>
          <p:nvPr/>
        </p:nvSpPr>
        <p:spPr>
          <a:xfrm>
            <a:off x="9249156" y="1280160"/>
            <a:ext cx="2802636" cy="868680"/>
          </a:xfrm>
          <a:prstGeom prst="roundRect">
            <a:avLst>
              <a:gd name="adj" fmla="val 3000"/>
            </a:avLst>
          </a:prstGeom>
          <a:solidFill>
            <a:srgbClr val="121E2E"/>
          </a:solidFill>
          <a:ln w="9525" cap="flat" cmpd="sng">
            <a:solidFill>
              <a:srgbClr val="2373AA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" name="Google Shape;112;p1"/>
          <p:cNvSpPr txBox="1"/>
          <p:nvPr/>
        </p:nvSpPr>
        <p:spPr>
          <a:xfrm>
            <a:off x="9304020" y="1335024"/>
            <a:ext cx="2692800" cy="22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1" i="0" u="none" strike="noStrike" cap="none">
                <a:solidFill>
                  <a:srgbClr val="7DC1E5"/>
                </a:solidFill>
                <a:latin typeface="Calibri"/>
                <a:ea typeface="Calibri"/>
                <a:cs typeface="Calibri"/>
                <a:sym typeface="Calibri"/>
              </a:rPr>
              <a:t>🏛️  DEPENDENCIA Y ORGANIZACIÓN</a:t>
            </a:r>
            <a:endParaRPr sz="1700"/>
          </a:p>
        </p:txBody>
      </p:sp>
      <p:sp>
        <p:nvSpPr>
          <p:cNvPr id="113" name="Google Shape;113;p1"/>
          <p:cNvSpPr txBox="1"/>
          <p:nvPr/>
        </p:nvSpPr>
        <p:spPr>
          <a:xfrm>
            <a:off x="9304020" y="1481328"/>
            <a:ext cx="2692800" cy="20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>
                <a:solidFill>
                  <a:srgbClr val="B8B8B8"/>
                </a:solidFill>
                <a:latin typeface="Calibri"/>
                <a:ea typeface="Calibri"/>
                <a:cs typeface="Calibri"/>
                <a:sym typeface="Calibri"/>
              </a:rPr>
              <a:t>Depende del Dpto. Coordinación Operativa (art. 176°)</a:t>
            </a:r>
            <a:endParaRPr sz="1600"/>
          </a:p>
        </p:txBody>
      </p:sp>
      <p:sp>
        <p:nvSpPr>
          <p:cNvPr id="114" name="Google Shape;114;p1"/>
          <p:cNvSpPr txBox="1"/>
          <p:nvPr/>
        </p:nvSpPr>
        <p:spPr>
          <a:xfrm>
            <a:off x="9304020" y="1664208"/>
            <a:ext cx="2692800" cy="40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16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1" i="0" u="none" strike="noStrike" cap="none">
                <a:solidFill>
                  <a:srgbClr val="E8F1F8"/>
                </a:solidFill>
                <a:latin typeface="Calibri"/>
                <a:ea typeface="Calibri"/>
                <a:cs typeface="Calibri"/>
                <a:sym typeface="Calibri"/>
              </a:rPr>
              <a:t>▸  Sección Dispositivos Antipánico: 40</a:t>
            </a:r>
            <a:endParaRPr sz="1700"/>
          </a:p>
          <a:p>
            <a:pPr marL="0" marR="0" lvl="0" indent="0" algn="l" rtl="0">
              <a:lnSpc>
                <a:spcPct val="116666"/>
              </a:lnSpc>
              <a:spcBef>
                <a:spcPts val="100"/>
              </a:spcBef>
              <a:spcAft>
                <a:spcPts val="0"/>
              </a:spcAft>
              <a:buNone/>
            </a:pPr>
            <a:r>
              <a:rPr lang="en-US" sz="900" b="1" i="0" u="none" strike="noStrike" cap="none">
                <a:solidFill>
                  <a:srgbClr val="E8F1F8"/>
                </a:solidFill>
                <a:latin typeface="Calibri"/>
                <a:ea typeface="Calibri"/>
                <a:cs typeface="Calibri"/>
                <a:sym typeface="Calibri"/>
              </a:rPr>
              <a:t>▸  Sección Pulseras y Tobilleras: 48</a:t>
            </a:r>
            <a:endParaRPr sz="1700"/>
          </a:p>
        </p:txBody>
      </p:sp>
      <p:sp>
        <p:nvSpPr>
          <p:cNvPr id="115" name="Google Shape;115;p1"/>
          <p:cNvSpPr txBox="1"/>
          <p:nvPr/>
        </p:nvSpPr>
        <p:spPr>
          <a:xfrm>
            <a:off x="6481318" y="2221992"/>
            <a:ext cx="56784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i="0" u="none" strike="noStrike" cap="none">
                <a:solidFill>
                  <a:srgbClr val="7DC1E5"/>
                </a:solidFill>
                <a:latin typeface="Calibri"/>
                <a:ea typeface="Calibri"/>
                <a:cs typeface="Calibri"/>
                <a:sym typeface="Calibri"/>
              </a:rPr>
              <a:t>📊  RESULTADOS 2025 vs 2026  •  ENE – AGO</a:t>
            </a:r>
            <a:endParaRPr sz="1600"/>
          </a:p>
        </p:txBody>
      </p:sp>
      <p:graphicFrame>
        <p:nvGraphicFramePr>
          <p:cNvPr id="116" name="Google Shape;116;p1"/>
          <p:cNvGraphicFramePr/>
          <p:nvPr/>
        </p:nvGraphicFramePr>
        <p:xfrm>
          <a:off x="6913118" y="2507996"/>
          <a:ext cx="4069075" cy="1440250"/>
        </p:xfrm>
        <a:graphic>
          <a:graphicData uri="http://schemas.openxmlformats.org/drawingml/2006/table">
            <a:tbl>
              <a:tblPr firstRow="1" bandRow="1">
                <a:noFill/>
                <a:tableStyleId>{152CD297-068B-45B0-BC44-D5CC68EE365D}</a:tableStyleId>
              </a:tblPr>
              <a:tblGrid>
                <a:gridCol w="20116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85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85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85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763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50" b="1" u="none" strike="noStrike" cap="none">
                          <a:solidFill>
                            <a:srgbClr val="7DC1E5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Indicador</a:t>
                      </a:r>
                      <a:endParaRPr sz="1600"/>
                    </a:p>
                  </a:txBody>
                  <a:tcPr marL="27425" marR="27425" marT="45725" marB="45725" anchor="ctr">
                    <a:lnL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A2E4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50" b="1" u="none" strike="noStrike" cap="none">
                          <a:solidFill>
                            <a:srgbClr val="7DC1E5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2025</a:t>
                      </a:r>
                      <a:endParaRPr sz="1600"/>
                    </a:p>
                  </a:txBody>
                  <a:tcPr marL="27425" marR="27425" marT="45725" marB="45725" anchor="ctr">
                    <a:lnL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A2E4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50" b="1" u="none" strike="noStrike" cap="none">
                          <a:solidFill>
                            <a:srgbClr val="7DC1E5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2026</a:t>
                      </a:r>
                      <a:endParaRPr sz="1600"/>
                    </a:p>
                  </a:txBody>
                  <a:tcPr marL="27425" marR="27425" marT="45725" marB="45725" anchor="ctr">
                    <a:lnL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A2E4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50" b="1" u="none" strike="noStrike" cap="none">
                          <a:solidFill>
                            <a:srgbClr val="7DC1E5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Variación</a:t>
                      </a:r>
                      <a:endParaRPr sz="1600"/>
                    </a:p>
                  </a:txBody>
                  <a:tcPr marL="27425" marR="27425" marT="45725" marB="45725" anchor="ctr">
                    <a:lnL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A2E4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63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50" u="none" strike="noStrike" cap="none">
                          <a:solidFill>
                            <a:srgbClr val="E8F1F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Disp. Antipánico Monitoreados</a:t>
                      </a:r>
                      <a:endParaRPr sz="1600"/>
                    </a:p>
                  </a:txBody>
                  <a:tcPr marL="27425" marR="27425" marT="45725" marB="45725" anchor="ctr">
                    <a:lnL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F1E2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50" u="none" strike="noStrike" cap="none">
                          <a:solidFill>
                            <a:srgbClr val="B8B8B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26.207</a:t>
                      </a:r>
                      <a:endParaRPr sz="1600"/>
                    </a:p>
                  </a:txBody>
                  <a:tcPr marL="27425" marR="27425" marT="45725" marB="45725" anchor="ctr">
                    <a:lnL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F1E2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50" u="none" strike="noStrike" cap="none">
                          <a:solidFill>
                            <a:srgbClr val="B8B8B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31.620</a:t>
                      </a:r>
                      <a:endParaRPr sz="1600"/>
                    </a:p>
                  </a:txBody>
                  <a:tcPr marL="27425" marR="27425" marT="45725" marB="45725" anchor="ctr">
                    <a:lnL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F1E2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50" b="1" u="none" strike="noStrike" cap="none">
                          <a:solidFill>
                            <a:srgbClr val="4ADE8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↑ 20.7%</a:t>
                      </a:r>
                      <a:endParaRPr sz="1600"/>
                    </a:p>
                  </a:txBody>
                  <a:tcPr marL="27425" marR="27425" marT="45725" marB="45725" anchor="ctr">
                    <a:lnL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F1E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63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50" u="none" strike="noStrike" cap="none">
                          <a:solidFill>
                            <a:srgbClr val="E8F1F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Accionamiento Disp. Antipánico</a:t>
                      </a:r>
                      <a:endParaRPr sz="1600"/>
                    </a:p>
                  </a:txBody>
                  <a:tcPr marL="27425" marR="27425" marT="45725" marB="45725" anchor="ctr">
                    <a:lnL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21A2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50" u="none" strike="noStrike" cap="none">
                          <a:solidFill>
                            <a:srgbClr val="B8B8B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7.339</a:t>
                      </a:r>
                      <a:endParaRPr sz="1600"/>
                    </a:p>
                  </a:txBody>
                  <a:tcPr marL="27425" marR="27425" marT="45725" marB="45725" anchor="ctr">
                    <a:lnL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21A2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50" u="none" strike="noStrike" cap="none">
                          <a:solidFill>
                            <a:srgbClr val="B8B8B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6.549</a:t>
                      </a:r>
                      <a:endParaRPr sz="1600"/>
                    </a:p>
                  </a:txBody>
                  <a:tcPr marL="27425" marR="27425" marT="45725" marB="45725" anchor="ctr">
                    <a:lnL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21A2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50" b="1" u="none" strike="noStrike" cap="none">
                          <a:solidFill>
                            <a:srgbClr val="F8717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↓ 10.8%</a:t>
                      </a:r>
                      <a:endParaRPr sz="1600"/>
                    </a:p>
                  </a:txBody>
                  <a:tcPr marL="27425" marR="27425" marT="45725" marB="45725" anchor="ctr">
                    <a:lnL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21A2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63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50" u="none" strike="noStrike" cap="none">
                          <a:solidFill>
                            <a:srgbClr val="E8F1F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Detenidos Sec. Disp. Antipánico</a:t>
                      </a:r>
                      <a:endParaRPr sz="1600"/>
                    </a:p>
                  </a:txBody>
                  <a:tcPr marL="27425" marR="27425" marT="45725" marB="45725" anchor="ctr">
                    <a:lnL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F1E2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50" u="none" strike="noStrike" cap="none">
                          <a:solidFill>
                            <a:srgbClr val="B8B8B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173</a:t>
                      </a:r>
                      <a:endParaRPr sz="1600"/>
                    </a:p>
                  </a:txBody>
                  <a:tcPr marL="27425" marR="27425" marT="45725" marB="45725" anchor="ctr">
                    <a:lnL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F1E2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50" u="none" strike="noStrike" cap="none">
                          <a:solidFill>
                            <a:srgbClr val="B8B8B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230</a:t>
                      </a:r>
                      <a:endParaRPr sz="1600"/>
                    </a:p>
                  </a:txBody>
                  <a:tcPr marL="27425" marR="27425" marT="45725" marB="45725" anchor="ctr">
                    <a:lnL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F1E2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50" b="1" u="none" strike="noStrike" cap="none">
                          <a:solidFill>
                            <a:srgbClr val="4ADE8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↑ 32.9%</a:t>
                      </a:r>
                      <a:endParaRPr sz="1600"/>
                    </a:p>
                  </a:txBody>
                  <a:tcPr marL="27425" marR="27425" marT="45725" marB="45725" anchor="ctr">
                    <a:lnL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F1E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63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50" u="none" strike="noStrike" cap="none">
                          <a:solidFill>
                            <a:srgbClr val="E8F1F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Pulseras y Tobilleras Monit.</a:t>
                      </a:r>
                      <a:endParaRPr sz="1600"/>
                    </a:p>
                  </a:txBody>
                  <a:tcPr marL="27425" marR="27425" marT="45725" marB="45725" anchor="ctr">
                    <a:lnL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21A2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50" u="none" strike="noStrike" cap="none">
                          <a:solidFill>
                            <a:srgbClr val="B8B8B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3.349</a:t>
                      </a:r>
                      <a:endParaRPr sz="1600"/>
                    </a:p>
                  </a:txBody>
                  <a:tcPr marL="27425" marR="27425" marT="45725" marB="45725" anchor="ctr">
                    <a:lnL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21A2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50" u="none" strike="noStrike" cap="none">
                          <a:solidFill>
                            <a:srgbClr val="B8B8B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3.581</a:t>
                      </a:r>
                      <a:endParaRPr sz="1600"/>
                    </a:p>
                  </a:txBody>
                  <a:tcPr marL="27425" marR="27425" marT="45725" marB="45725" anchor="ctr">
                    <a:lnL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21A2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50" b="1" u="none" strike="noStrike" cap="none">
                          <a:solidFill>
                            <a:srgbClr val="4ADE8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↑ 6.9%</a:t>
                      </a:r>
                      <a:endParaRPr sz="1600"/>
                    </a:p>
                  </a:txBody>
                  <a:tcPr marL="27425" marR="27425" marT="45725" marB="45725" anchor="ctr">
                    <a:lnL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21A2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763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50" u="none" strike="noStrike" cap="none">
                          <a:solidFill>
                            <a:srgbClr val="E8F1F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Cant. Alertas Pulseras/Tobill.</a:t>
                      </a:r>
                      <a:endParaRPr sz="1600"/>
                    </a:p>
                  </a:txBody>
                  <a:tcPr marL="27425" marR="27425" marT="45725" marB="45725" anchor="ctr">
                    <a:lnL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F1E2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50" u="none" strike="noStrike" cap="none">
                          <a:solidFill>
                            <a:srgbClr val="B8B8B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657.710</a:t>
                      </a:r>
                      <a:endParaRPr sz="1600"/>
                    </a:p>
                  </a:txBody>
                  <a:tcPr marL="27425" marR="27425" marT="45725" marB="45725" anchor="ctr">
                    <a:lnL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F1E2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50" u="none" strike="noStrike" cap="none">
                          <a:solidFill>
                            <a:srgbClr val="B8B8B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662.653</a:t>
                      </a:r>
                      <a:endParaRPr sz="1600"/>
                    </a:p>
                  </a:txBody>
                  <a:tcPr marL="27425" marR="27425" marT="45725" marB="45725" anchor="ctr">
                    <a:lnL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F1E2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50" b="1" u="none" strike="noStrike" cap="none">
                          <a:solidFill>
                            <a:srgbClr val="4ADE8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↑ 0.8%</a:t>
                      </a:r>
                      <a:endParaRPr sz="1600"/>
                    </a:p>
                  </a:txBody>
                  <a:tcPr marL="27425" marR="27425" marT="45725" marB="45725" anchor="ctr">
                    <a:lnL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F1E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763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50" u="none" strike="noStrike" cap="none">
                          <a:solidFill>
                            <a:srgbClr val="E8F1F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Detenidos Sec. Pulseras/Tobill.</a:t>
                      </a:r>
                      <a:endParaRPr sz="1600"/>
                    </a:p>
                  </a:txBody>
                  <a:tcPr marL="27425" marR="27425" marT="45725" marB="45725" anchor="ctr">
                    <a:lnL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21A2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50" u="none" strike="noStrike" cap="none">
                          <a:solidFill>
                            <a:srgbClr val="B8B8B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93</a:t>
                      </a:r>
                      <a:endParaRPr sz="1600"/>
                    </a:p>
                  </a:txBody>
                  <a:tcPr marL="27425" marR="27425" marT="45725" marB="45725" anchor="ctr">
                    <a:lnL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21A2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50" u="none" strike="noStrike" cap="none">
                          <a:solidFill>
                            <a:srgbClr val="B8B8B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122</a:t>
                      </a:r>
                      <a:endParaRPr sz="1600"/>
                    </a:p>
                  </a:txBody>
                  <a:tcPr marL="27425" marR="27425" marT="45725" marB="45725" anchor="ctr">
                    <a:lnL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21A2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50" b="1" u="none" strike="noStrike" cap="none">
                          <a:solidFill>
                            <a:srgbClr val="4ADE8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↑ 31.2%</a:t>
                      </a:r>
                      <a:endParaRPr sz="1600"/>
                    </a:p>
                  </a:txBody>
                  <a:tcPr marL="27425" marR="27425" marT="45725" marB="45725" anchor="ctr">
                    <a:lnL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888888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21A2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17" name="Google Shape;117;p1"/>
          <p:cNvSpPr txBox="1"/>
          <p:nvPr/>
        </p:nvSpPr>
        <p:spPr>
          <a:xfrm>
            <a:off x="6373368" y="4056888"/>
            <a:ext cx="2802600" cy="20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1" i="0" u="none" strike="noStrike" cap="none">
                <a:solidFill>
                  <a:srgbClr val="7DC1E5"/>
                </a:solidFill>
                <a:latin typeface="Calibri"/>
                <a:ea typeface="Calibri"/>
                <a:cs typeface="Calibri"/>
                <a:sym typeface="Calibri"/>
              </a:rPr>
              <a:t>PULSERAS Y TOBILLERAS</a:t>
            </a:r>
            <a:endParaRPr sz="1500"/>
          </a:p>
        </p:txBody>
      </p:sp>
      <p:pic>
        <p:nvPicPr>
          <p:cNvPr id="118" name="Google Shape;118;p1" descr="chart_PULSERAS_Y_TOBILLERAS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6290825" y="4208775"/>
            <a:ext cx="2983174" cy="1333427"/>
          </a:xfrm>
          <a:prstGeom prst="rect">
            <a:avLst/>
          </a:prstGeom>
          <a:noFill/>
          <a:ln>
            <a:noFill/>
          </a:ln>
        </p:spPr>
      </p:pic>
      <p:sp>
        <p:nvSpPr>
          <p:cNvPr id="119" name="Google Shape;119;p1"/>
          <p:cNvSpPr txBox="1"/>
          <p:nvPr/>
        </p:nvSpPr>
        <p:spPr>
          <a:xfrm>
            <a:off x="9249156" y="4056888"/>
            <a:ext cx="2802600" cy="20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1" i="0" u="none" strike="noStrike" cap="none">
                <a:solidFill>
                  <a:srgbClr val="7DC1E5"/>
                </a:solidFill>
                <a:latin typeface="Calibri"/>
                <a:ea typeface="Calibri"/>
                <a:cs typeface="Calibri"/>
                <a:sym typeface="Calibri"/>
              </a:rPr>
              <a:t>DISPOSITIVOS ANTIPÁNICO</a:t>
            </a:r>
            <a:endParaRPr sz="1500"/>
          </a:p>
        </p:txBody>
      </p:sp>
      <p:pic>
        <p:nvPicPr>
          <p:cNvPr id="120" name="Google Shape;120;p1" descr="chart_DISPOSITIVOS_ANTIPANICO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9249150" y="4208775"/>
            <a:ext cx="2983174" cy="1333416"/>
          </a:xfrm>
          <a:prstGeom prst="rect">
            <a:avLst/>
          </a:prstGeom>
          <a:noFill/>
          <a:ln>
            <a:noFill/>
          </a:ln>
        </p:spPr>
      </p:pic>
      <p:sp>
        <p:nvSpPr>
          <p:cNvPr id="121" name="Google Shape;121;p1"/>
          <p:cNvSpPr/>
          <p:nvPr/>
        </p:nvSpPr>
        <p:spPr>
          <a:xfrm>
            <a:off x="6373368" y="5706110"/>
            <a:ext cx="5678400" cy="777300"/>
          </a:xfrm>
          <a:prstGeom prst="roundRect">
            <a:avLst>
              <a:gd name="adj" fmla="val 3000"/>
            </a:avLst>
          </a:prstGeom>
          <a:solidFill>
            <a:srgbClr val="0F2A3A"/>
          </a:solidFill>
          <a:ln w="9525" cap="flat" cmpd="sng">
            <a:solidFill>
              <a:srgbClr val="267CA2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2" name="Google Shape;122;p1"/>
          <p:cNvSpPr txBox="1"/>
          <p:nvPr/>
        </p:nvSpPr>
        <p:spPr>
          <a:xfrm>
            <a:off x="6428232" y="5760974"/>
            <a:ext cx="5568600" cy="20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1" i="0" u="none" strike="noStrike" cap="none">
                <a:solidFill>
                  <a:srgbClr val="7DC1E5"/>
                </a:solidFill>
                <a:latin typeface="Calibri"/>
                <a:ea typeface="Calibri"/>
                <a:cs typeface="Calibri"/>
                <a:sym typeface="Calibri"/>
              </a:rPr>
              <a:t>✅  CONCLUSIONES  •  Certificada ISO 9001:2015 — TÜV Rheinland</a:t>
            </a:r>
            <a:endParaRPr sz="1600"/>
          </a:p>
        </p:txBody>
      </p:sp>
      <p:sp>
        <p:nvSpPr>
          <p:cNvPr id="123" name="Google Shape;123;p1"/>
          <p:cNvSpPr txBox="1"/>
          <p:nvPr/>
        </p:nvSpPr>
        <p:spPr>
          <a:xfrm>
            <a:off x="6428232" y="5888990"/>
            <a:ext cx="5568600" cy="37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16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 u="none" strike="noStrike" cap="none">
                <a:solidFill>
                  <a:srgbClr val="B8B8B8"/>
                </a:solidFill>
                <a:latin typeface="Calibri"/>
                <a:ea typeface="Calibri"/>
                <a:cs typeface="Calibri"/>
                <a:sym typeface="Calibri"/>
              </a:rPr>
              <a:t>▸  2026: incorporada a Auditorías ISO 9001:2015 bajo Dpto. Coordinación Operativa</a:t>
            </a:r>
            <a:endParaRPr sz="1600"/>
          </a:p>
          <a:p>
            <a:pPr marL="0" marR="0" lvl="0" indent="0" algn="l" rtl="0">
              <a:lnSpc>
                <a:spcPct val="116666"/>
              </a:lnSpc>
              <a:spcBef>
                <a:spcPts val="100"/>
              </a:spcBef>
              <a:spcAft>
                <a:spcPts val="0"/>
              </a:spcAft>
              <a:buNone/>
            </a:pPr>
            <a:r>
              <a:rPr lang="en-US" sz="800" b="0" i="0" u="none" strike="noStrike" cap="none">
                <a:solidFill>
                  <a:srgbClr val="B8B8B8"/>
                </a:solidFill>
                <a:latin typeface="Calibri"/>
                <a:ea typeface="Calibri"/>
                <a:cs typeface="Calibri"/>
                <a:sym typeface="Calibri"/>
              </a:rPr>
              <a:t>▸  🔜 Próximo paso: integrar SIMEI (Surely) y SAE para trazabilidad automática</a:t>
            </a:r>
            <a:endParaRPr sz="1600"/>
          </a:p>
        </p:txBody>
      </p:sp>
      <p:sp>
        <p:nvSpPr>
          <p:cNvPr id="124" name="Google Shape;124;p1"/>
          <p:cNvSpPr txBox="1"/>
          <p:nvPr/>
        </p:nvSpPr>
        <p:spPr>
          <a:xfrm>
            <a:off x="274320" y="6656832"/>
            <a:ext cx="11640300" cy="20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>
                <a:solidFill>
                  <a:srgbClr val="CFD7E7"/>
                </a:solidFill>
                <a:latin typeface="Calibri"/>
                <a:ea typeface="Calibri"/>
                <a:cs typeface="Calibri"/>
                <a:sym typeface="Calibri"/>
              </a:rPr>
              <a:t>Informe 2026  •  Policía de la Ciudad  •  Superintendencia Prevención y Gestión de Emergencias  •  Certificación ISO 9001:2015 — TÜV Rheinland Cert. N° 01 10006 2129714</a:t>
            </a:r>
            <a:endParaRPr sz="1500">
              <a:solidFill>
                <a:srgbClr val="CFD7E7"/>
              </a:solidFill>
            </a:endParaRPr>
          </a:p>
        </p:txBody>
      </p:sp>
      <p:pic>
        <p:nvPicPr>
          <p:cNvPr id="125" name="Google Shape;125;p1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6373375" y="710451"/>
            <a:ext cx="548624" cy="548624"/>
          </a:xfrm>
          <a:prstGeom prst="rect">
            <a:avLst/>
          </a:prstGeom>
          <a:solidFill>
            <a:srgbClr val="0A1218"/>
          </a:solidFill>
          <a:ln w="12700" cap="flat" cmpd="sng">
            <a:solidFill>
              <a:srgbClr val="2373AA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0"/>
              </a:srgbClr>
            </a:outerShdw>
          </a:effectLst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444</Words>
  <Application>Microsoft Office PowerPoint</Application>
  <PresentationFormat>Personalizado</PresentationFormat>
  <Paragraphs>93</Paragraphs>
  <Slides>1</Slides>
  <Notes>1</Notes>
  <HiddenSlides>0</HiddenSlides>
  <MMClips>0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Manuel Chanourdie Llevilao</cp:lastModifiedBy>
  <cp:revision>1</cp:revision>
  <dcterms:created xsi:type="dcterms:W3CDTF">2013-01-27T09:14:16Z</dcterms:created>
  <dcterms:modified xsi:type="dcterms:W3CDTF">2026-09-08T19:46:23Z</dcterms:modified>
</cp:coreProperties>
</file>