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9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2373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09728"/>
            <a:ext cx="116403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373AA"/>
                </a:solidFill>
                <a:latin typeface="Calibri"/>
              </a:defRPr>
            </a:pPr>
            <a:r>
              <a:t>División Anillo Digital y Sensores Tecnológicos  —  Informe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384048"/>
            <a:ext cx="116403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>
                <a:solidFill>
                  <a:srgbClr val="7DC1E5"/>
                </a:solidFill>
                <a:latin typeface="Calibri"/>
              </a:defRPr>
            </a:pPr>
            <a:r>
              <a:t>Superintendencia de Prevención y Gestión de Emergencias  •  Dirección Videoseguridad  •  Departamento Coordinación Operativa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21792"/>
            <a:ext cx="11274552" cy="12700"/>
          </a:xfrm>
          <a:prstGeom prst="rect">
            <a:avLst/>
          </a:prstGeom>
          <a:solidFill>
            <a:srgbClr val="2373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28600" y="713232"/>
            <a:ext cx="5897880" cy="5897880"/>
          </a:xfrm>
          <a:prstGeom prst="roundRect">
            <a:avLst>
              <a:gd name="adj" fmla="val 2000"/>
            </a:avLst>
          </a:prstGeom>
          <a:solidFill>
            <a:srgbClr val="0A1218"/>
          </a:solidFill>
          <a:ln w="12700">
            <a:solidFill>
              <a:srgbClr val="2373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822960"/>
            <a:ext cx="411480" cy="4114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68680" y="82296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2373AA"/>
                </a:solidFill>
                <a:latin typeface="Calibri"/>
              </a:defRPr>
            </a:pPr>
            <a:r>
              <a:t>DIVISIÓN ANILLO DIGITAL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005840"/>
            <a:ext cx="32004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00" b="0" i="1">
                <a:solidFill>
                  <a:srgbClr val="5D5D5D"/>
                </a:solidFill>
                <a:latin typeface="Calibri"/>
              </a:defRPr>
            </a:pPr>
            <a:r>
              <a:t>Capacidades  •  Resultados 2025 vs 2026  •  Gráficos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8328" y="1280160"/>
            <a:ext cx="5678424" cy="868680"/>
          </a:xfrm>
          <a:prstGeom prst="roundRect">
            <a:avLst>
              <a:gd name="adj" fmla="val 3000"/>
            </a:avLst>
          </a:prstGeom>
          <a:solidFill>
            <a:srgbClr val="121E2E"/>
          </a:solidFill>
          <a:ln w="6350">
            <a:solidFill>
              <a:srgbClr val="2373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93192" y="1335024"/>
            <a:ext cx="5568696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" b="1" i="0">
                <a:solidFill>
                  <a:srgbClr val="7DC1E5"/>
                </a:solidFill>
                <a:latin typeface="Calibri"/>
              </a:defRPr>
            </a:pPr>
            <a:r>
              <a:t>🏗️  CAPACIDADES OPERATIVAS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3192" y="1481328"/>
            <a:ext cx="2651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700"/>
              </a:lnSpc>
              <a:spcBef>
                <a:spcPts val="0"/>
              </a:spcBef>
              <a:spcAft>
                <a:spcPts val="100"/>
              </a:spcAft>
              <a:defRPr sz="600" b="1">
                <a:solidFill>
                  <a:srgbClr val="E8F1F8"/>
                </a:solidFill>
                <a:latin typeface="Calibri"/>
              </a:defRPr>
            </a:pPr>
            <a:r>
              <a:t>▸  Posee 2 Centros de Monitoreo de Patentes</a:t>
            </a:r>
          </a:p>
          <a:p>
            <a:pPr>
              <a:lnSpc>
                <a:spcPts val="700"/>
              </a:lnSpc>
              <a:spcBef>
                <a:spcPts val="0"/>
              </a:spcBef>
              <a:spcAft>
                <a:spcPts val="100"/>
              </a:spcAft>
              <a:defRPr sz="600" b="1">
                <a:solidFill>
                  <a:srgbClr val="E8F1F8"/>
                </a:solidFill>
                <a:latin typeface="Calibri"/>
              </a:defRPr>
            </a:pPr>
            <a:r>
              <a:t>▸  886 Lectores de Patentes</a:t>
            </a:r>
          </a:p>
          <a:p>
            <a:pPr>
              <a:lnSpc>
                <a:spcPts val="700"/>
              </a:lnSpc>
              <a:spcBef>
                <a:spcPts val="0"/>
              </a:spcBef>
              <a:spcAft>
                <a:spcPts val="100"/>
              </a:spcAft>
              <a:defRPr sz="600" b="1">
                <a:solidFill>
                  <a:srgbClr val="E8F1F8"/>
                </a:solidFill>
                <a:latin typeface="Calibri"/>
              </a:defRPr>
            </a:pPr>
            <a:r>
              <a:t>▸  75 Cámaras 24/7  •  43 móviles  •  254 efectivos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54680" y="1481328"/>
            <a:ext cx="2651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700"/>
              </a:lnSpc>
              <a:spcBef>
                <a:spcPts val="0"/>
              </a:spcBef>
              <a:spcAft>
                <a:spcPts val="100"/>
              </a:spcAft>
              <a:defRPr sz="600" b="0">
                <a:solidFill>
                  <a:srgbClr val="B8B8B8"/>
                </a:solidFill>
                <a:latin typeface="Calibri"/>
              </a:defRPr>
            </a:pPr>
            <a:r>
              <a:t>▸  Detención de vehículos con impedimento legal</a:t>
            </a:r>
          </a:p>
          <a:p>
            <a:pPr>
              <a:lnSpc>
                <a:spcPts val="700"/>
              </a:lnSpc>
              <a:spcBef>
                <a:spcPts val="0"/>
              </a:spcBef>
              <a:spcAft>
                <a:spcPts val="100"/>
              </a:spcAft>
              <a:defRPr sz="600" b="0">
                <a:solidFill>
                  <a:srgbClr val="B8B8B8"/>
                </a:solidFill>
                <a:latin typeface="Calibri"/>
              </a:defRPr>
            </a:pPr>
            <a:r>
              <a:t>▸  Detección temprana en tiempo real</a:t>
            </a:r>
          </a:p>
          <a:p>
            <a:pPr>
              <a:lnSpc>
                <a:spcPts val="700"/>
              </a:lnSpc>
              <a:spcBef>
                <a:spcPts val="0"/>
              </a:spcBef>
              <a:spcAft>
                <a:spcPts val="100"/>
              </a:spcAft>
              <a:defRPr sz="600" b="0">
                <a:solidFill>
                  <a:srgbClr val="B8B8B8"/>
                </a:solidFill>
                <a:latin typeface="Calibri"/>
              </a:defRPr>
            </a:pPr>
            <a:r>
              <a:t>▸  Monitoreo y verificación de alarmas</a:t>
            </a:r>
          </a:p>
          <a:p>
            <a:pPr>
              <a:lnSpc>
                <a:spcPts val="700"/>
              </a:lnSpc>
              <a:spcBef>
                <a:spcPts val="0"/>
              </a:spcBef>
              <a:spcAft>
                <a:spcPts val="100"/>
              </a:spcAft>
              <a:defRPr sz="600" b="0">
                <a:solidFill>
                  <a:srgbClr val="B8B8B8"/>
                </a:solidFill>
                <a:latin typeface="Calibri"/>
              </a:defRPr>
            </a:pPr>
            <a:r>
              <a:t>▸  Coordinación interinstitucional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" y="2221992"/>
            <a:ext cx="5678424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" b="1" i="0">
                <a:solidFill>
                  <a:srgbClr val="7DC1E5"/>
                </a:solidFill>
                <a:latin typeface="Calibri"/>
              </a:defRPr>
            </a:pPr>
            <a:r>
              <a:t>📊  RESULTADOS 2025 vs 2026  •  ENE – AGO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38328" y="2368296"/>
          <a:ext cx="4069080" cy="1234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685800"/>
                <a:gridCol w="685800"/>
                <a:gridCol w="685800"/>
              </a:tblGrid>
              <a:tr h="176348">
                <a:tc>
                  <a:txBody>
                    <a:bodyPr/>
                    <a:lstStyle/>
                    <a:p>
                      <a:pPr algn="l">
                        <a:defRPr sz="550" b="1">
                          <a:solidFill>
                            <a:srgbClr val="7DC1E5"/>
                          </a:solidFill>
                          <a:latin typeface="Calibri"/>
                        </a:defRPr>
                      </a:pPr>
                      <a:r>
                        <a:t>Indicador</a:t>
                      </a:r>
                    </a:p>
                  </a:txBody>
                  <a:tcPr anchor="ctr" marL="27432" marR="27432">
                    <a:solidFill>
                      <a:srgbClr val="1A2E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550" b="1">
                          <a:solidFill>
                            <a:srgbClr val="7DC1E5"/>
                          </a:solidFill>
                          <a:latin typeface="Calibri"/>
                        </a:defRPr>
                      </a:pPr>
                      <a:r>
                        <a:t>2025</a:t>
                      </a:r>
                    </a:p>
                  </a:txBody>
                  <a:tcPr anchor="ctr" marL="27432" marR="27432">
                    <a:solidFill>
                      <a:srgbClr val="1A2E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550" b="1">
                          <a:solidFill>
                            <a:srgbClr val="7DC1E5"/>
                          </a:solidFill>
                          <a:latin typeface="Calibri"/>
                        </a:defRPr>
                      </a:pPr>
                      <a:r>
                        <a:t>2026</a:t>
                      </a:r>
                    </a:p>
                  </a:txBody>
                  <a:tcPr anchor="ctr" marL="27432" marR="27432">
                    <a:solidFill>
                      <a:srgbClr val="1A2E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550" b="1">
                          <a:solidFill>
                            <a:srgbClr val="7DC1E5"/>
                          </a:solidFill>
                          <a:latin typeface="Calibri"/>
                        </a:defRPr>
                      </a:pPr>
                      <a:r>
                        <a:t>Variación</a:t>
                      </a:r>
                    </a:p>
                  </a:txBody>
                  <a:tcPr anchor="ctr" marL="27432" marR="27432">
                    <a:solidFill>
                      <a:srgbClr val="1A2E42"/>
                    </a:solidFill>
                  </a:tcPr>
                </a:tc>
              </a:tr>
              <a:tr h="176348">
                <a:tc>
                  <a:txBody>
                    <a:bodyPr/>
                    <a:lstStyle/>
                    <a:p>
                      <a:pPr algn="l">
                        <a:defRPr sz="550">
                          <a:solidFill>
                            <a:srgbClr val="E8F1F8"/>
                          </a:solidFill>
                          <a:latin typeface="Calibri"/>
                        </a:defRPr>
                      </a:pPr>
                      <a:r>
                        <a:t>Intercept. c/ secuestro</a:t>
                      </a:r>
                    </a:p>
                  </a:txBody>
                  <a:tcPr anchor="ctr" marL="27432" marR="27432">
                    <a:solidFill>
                      <a:srgbClr val="0F1E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550">
                          <a:solidFill>
                            <a:srgbClr val="B8B8B8"/>
                          </a:solidFill>
                          <a:latin typeface="Calibri"/>
                        </a:defRPr>
                      </a:pPr>
                      <a:r>
                        <a:t>200</a:t>
                      </a:r>
                    </a:p>
                  </a:txBody>
                  <a:tcPr anchor="ctr" marL="27432" marR="27432">
                    <a:solidFill>
                      <a:srgbClr val="0F1E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550">
                          <a:solidFill>
                            <a:srgbClr val="B8B8B8"/>
                          </a:solidFill>
                          <a:latin typeface="Calibri"/>
                        </a:defRPr>
                      </a:pPr>
                      <a:r>
                        <a:t>247</a:t>
                      </a:r>
                    </a:p>
                  </a:txBody>
                  <a:tcPr anchor="ctr" marL="27432" marR="27432">
                    <a:solidFill>
                      <a:srgbClr val="0F1E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550">
                          <a:solidFill>
                            <a:srgbClr val="4ADE80"/>
                          </a:solidFill>
                          <a:latin typeface="Calibri"/>
                        </a:defRPr>
                      </a:pPr>
                      <a:r>
                        <a:t>↑ 23.5%</a:t>
                      </a:r>
                    </a:p>
                  </a:txBody>
                  <a:tcPr anchor="ctr" marL="27432" marR="27432">
                    <a:solidFill>
                      <a:srgbClr val="0F1E2E"/>
                    </a:solidFill>
                  </a:tcPr>
                </a:tc>
              </a:tr>
              <a:tr h="176348">
                <a:tc>
                  <a:txBody>
                    <a:bodyPr/>
                    <a:lstStyle/>
                    <a:p>
                      <a:pPr algn="l">
                        <a:defRPr sz="550">
                          <a:solidFill>
                            <a:srgbClr val="E8F1F8"/>
                          </a:solidFill>
                          <a:latin typeface="Calibri"/>
                        </a:defRPr>
                      </a:pPr>
                      <a:r>
                        <a:t>Aprehendidos</a:t>
                      </a:r>
                    </a:p>
                  </a:txBody>
                  <a:tcPr anchor="ctr" marL="27432" marR="27432">
                    <a:solidFill>
                      <a:srgbClr val="121A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550">
                          <a:solidFill>
                            <a:srgbClr val="B8B8B8"/>
                          </a:solidFill>
                          <a:latin typeface="Calibri"/>
                        </a:defRPr>
                      </a:pPr>
                      <a:r>
                        <a:t>290</a:t>
                      </a:r>
                    </a:p>
                  </a:txBody>
                  <a:tcPr anchor="ctr" marL="27432" marR="27432">
                    <a:solidFill>
                      <a:srgbClr val="121A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550">
                          <a:solidFill>
                            <a:srgbClr val="B8B8B8"/>
                          </a:solidFill>
                          <a:latin typeface="Calibri"/>
                        </a:defRPr>
                      </a:pPr>
                      <a:r>
                        <a:t>314</a:t>
                      </a:r>
                    </a:p>
                  </a:txBody>
                  <a:tcPr anchor="ctr" marL="27432" marR="27432">
                    <a:solidFill>
                      <a:srgbClr val="121A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550">
                          <a:solidFill>
                            <a:srgbClr val="4ADE80"/>
                          </a:solidFill>
                          <a:latin typeface="Calibri"/>
                        </a:defRPr>
                      </a:pPr>
                      <a:r>
                        <a:t>↑ 8.3%</a:t>
                      </a:r>
                    </a:p>
                  </a:txBody>
                  <a:tcPr anchor="ctr" marL="27432" marR="27432">
                    <a:solidFill>
                      <a:srgbClr val="121A22"/>
                    </a:solidFill>
                  </a:tcPr>
                </a:tc>
              </a:tr>
              <a:tr h="176348">
                <a:tc>
                  <a:txBody>
                    <a:bodyPr/>
                    <a:lstStyle/>
                    <a:p>
                      <a:pPr algn="l">
                        <a:defRPr sz="550">
                          <a:solidFill>
                            <a:srgbClr val="E8F1F8"/>
                          </a:solidFill>
                          <a:latin typeface="Calibri"/>
                        </a:defRPr>
                      </a:pPr>
                      <a:r>
                        <a:t>Actuaciones</a:t>
                      </a:r>
                    </a:p>
                  </a:txBody>
                  <a:tcPr anchor="ctr" marL="27432" marR="27432">
                    <a:solidFill>
                      <a:srgbClr val="0F1E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550">
                          <a:solidFill>
                            <a:srgbClr val="B8B8B8"/>
                          </a:solidFill>
                          <a:latin typeface="Calibri"/>
                        </a:defRPr>
                      </a:pPr>
                      <a:r>
                        <a:t>1.696</a:t>
                      </a:r>
                    </a:p>
                  </a:txBody>
                  <a:tcPr anchor="ctr" marL="27432" marR="27432">
                    <a:solidFill>
                      <a:srgbClr val="0F1E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550">
                          <a:solidFill>
                            <a:srgbClr val="B8B8B8"/>
                          </a:solidFill>
                          <a:latin typeface="Calibri"/>
                        </a:defRPr>
                      </a:pPr>
                      <a:r>
                        <a:t>3.092</a:t>
                      </a:r>
                    </a:p>
                  </a:txBody>
                  <a:tcPr anchor="ctr" marL="27432" marR="27432">
                    <a:solidFill>
                      <a:srgbClr val="0F1E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550">
                          <a:solidFill>
                            <a:srgbClr val="4ADE80"/>
                          </a:solidFill>
                          <a:latin typeface="Calibri"/>
                        </a:defRPr>
                      </a:pPr>
                      <a:r>
                        <a:t>↑ 82.4%</a:t>
                      </a:r>
                    </a:p>
                  </a:txBody>
                  <a:tcPr anchor="ctr" marL="27432" marR="27432">
                    <a:solidFill>
                      <a:srgbClr val="0F1E2E"/>
                    </a:solidFill>
                  </a:tcPr>
                </a:tc>
              </a:tr>
              <a:tr h="176348">
                <a:tc>
                  <a:txBody>
                    <a:bodyPr/>
                    <a:lstStyle/>
                    <a:p>
                      <a:pPr algn="l">
                        <a:defRPr sz="550">
                          <a:solidFill>
                            <a:srgbClr val="E8F1F8"/>
                          </a:solidFill>
                          <a:latin typeface="Calibri"/>
                        </a:defRPr>
                      </a:pPr>
                      <a:r>
                        <a:t>Alarmas</a:t>
                      </a:r>
                    </a:p>
                  </a:txBody>
                  <a:tcPr anchor="ctr" marL="27432" marR="27432">
                    <a:solidFill>
                      <a:srgbClr val="121A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550">
                          <a:solidFill>
                            <a:srgbClr val="B8B8B8"/>
                          </a:solidFill>
                          <a:latin typeface="Calibri"/>
                        </a:defRPr>
                      </a:pPr>
                      <a:r>
                        <a:t>3.039.520</a:t>
                      </a:r>
                    </a:p>
                  </a:txBody>
                  <a:tcPr anchor="ctr" marL="27432" marR="27432">
                    <a:solidFill>
                      <a:srgbClr val="121A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550">
                          <a:solidFill>
                            <a:srgbClr val="B8B8B8"/>
                          </a:solidFill>
                          <a:latin typeface="Calibri"/>
                        </a:defRPr>
                      </a:pPr>
                      <a:r>
                        <a:t>3.166.212</a:t>
                      </a:r>
                    </a:p>
                  </a:txBody>
                  <a:tcPr anchor="ctr" marL="27432" marR="27432">
                    <a:solidFill>
                      <a:srgbClr val="121A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550">
                          <a:solidFill>
                            <a:srgbClr val="4ADE80"/>
                          </a:solidFill>
                          <a:latin typeface="Calibri"/>
                        </a:defRPr>
                      </a:pPr>
                      <a:r>
                        <a:t>↑ 4.2%</a:t>
                      </a:r>
                    </a:p>
                  </a:txBody>
                  <a:tcPr anchor="ctr" marL="27432" marR="27432">
                    <a:solidFill>
                      <a:srgbClr val="121A22"/>
                    </a:solidFill>
                  </a:tcPr>
                </a:tc>
              </a:tr>
              <a:tr h="176348">
                <a:tc>
                  <a:txBody>
                    <a:bodyPr/>
                    <a:lstStyle/>
                    <a:p>
                      <a:pPr algn="l">
                        <a:defRPr sz="550">
                          <a:solidFill>
                            <a:srgbClr val="E8F1F8"/>
                          </a:solidFill>
                          <a:latin typeface="Calibri"/>
                        </a:defRPr>
                      </a:pPr>
                      <a:r>
                        <a:t>Alarmas atendidas</a:t>
                      </a:r>
                    </a:p>
                  </a:txBody>
                  <a:tcPr anchor="ctr" marL="27432" marR="27432">
                    <a:solidFill>
                      <a:srgbClr val="0F1E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550">
                          <a:solidFill>
                            <a:srgbClr val="B8B8B8"/>
                          </a:solidFill>
                          <a:latin typeface="Calibri"/>
                        </a:defRPr>
                      </a:pPr>
                      <a:r>
                        <a:t>665.039</a:t>
                      </a:r>
                    </a:p>
                  </a:txBody>
                  <a:tcPr anchor="ctr" marL="27432" marR="27432">
                    <a:solidFill>
                      <a:srgbClr val="0F1E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550">
                          <a:solidFill>
                            <a:srgbClr val="B8B8B8"/>
                          </a:solidFill>
                          <a:latin typeface="Calibri"/>
                        </a:defRPr>
                      </a:pPr>
                      <a:r>
                        <a:t>1.753.812</a:t>
                      </a:r>
                    </a:p>
                  </a:txBody>
                  <a:tcPr anchor="ctr" marL="27432" marR="27432">
                    <a:solidFill>
                      <a:srgbClr val="0F1E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550">
                          <a:solidFill>
                            <a:srgbClr val="4ADE80"/>
                          </a:solidFill>
                          <a:latin typeface="Calibri"/>
                        </a:defRPr>
                      </a:pPr>
                      <a:r>
                        <a:t>↑ 163.8%</a:t>
                      </a:r>
                    </a:p>
                  </a:txBody>
                  <a:tcPr anchor="ctr" marL="27432" marR="27432">
                    <a:solidFill>
                      <a:srgbClr val="0F1E2E"/>
                    </a:solidFill>
                  </a:tcPr>
                </a:tc>
              </a:tr>
              <a:tr h="176352">
                <a:tc>
                  <a:txBody>
                    <a:bodyPr/>
                    <a:lstStyle/>
                    <a:p>
                      <a:pPr algn="l">
                        <a:defRPr sz="550">
                          <a:solidFill>
                            <a:srgbClr val="E8F1F8"/>
                          </a:solidFill>
                          <a:latin typeface="Calibri"/>
                        </a:defRPr>
                      </a:pPr>
                      <a:r>
                        <a:t>Prom. Incremento Personal</a:t>
                      </a:r>
                    </a:p>
                  </a:txBody>
                  <a:tcPr anchor="ctr" marL="27432" marR="27432">
                    <a:solidFill>
                      <a:srgbClr val="121A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550">
                          <a:solidFill>
                            <a:srgbClr val="B8B8B8"/>
                          </a:solidFill>
                          <a:latin typeface="Calibri"/>
                        </a:defRPr>
                      </a:pPr>
                      <a:r>
                        <a:t>203</a:t>
                      </a:r>
                    </a:p>
                  </a:txBody>
                  <a:tcPr anchor="ctr" marL="27432" marR="27432">
                    <a:solidFill>
                      <a:srgbClr val="121A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550">
                          <a:solidFill>
                            <a:srgbClr val="B8B8B8"/>
                          </a:solidFill>
                          <a:latin typeface="Calibri"/>
                        </a:defRPr>
                      </a:pPr>
                      <a:r>
                        <a:t>238</a:t>
                      </a:r>
                    </a:p>
                  </a:txBody>
                  <a:tcPr anchor="ctr" marL="27432" marR="27432">
                    <a:solidFill>
                      <a:srgbClr val="121A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550">
                          <a:solidFill>
                            <a:srgbClr val="4ADE80"/>
                          </a:solidFill>
                          <a:latin typeface="Calibri"/>
                        </a:defRPr>
                      </a:pPr>
                      <a:r>
                        <a:t>↑ 17.2%</a:t>
                      </a:r>
                    </a:p>
                  </a:txBody>
                  <a:tcPr anchor="ctr" marL="27432" marR="27432">
                    <a:solidFill>
                      <a:srgbClr val="121A22"/>
                    </a:solidFill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338328" y="3675888"/>
            <a:ext cx="280263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1" i="0">
                <a:solidFill>
                  <a:srgbClr val="7DC1E5"/>
                </a:solidFill>
                <a:latin typeface="Calibri"/>
              </a:defRPr>
            </a:pPr>
            <a:r>
              <a:t>PROCEDIMIENTOS</a:t>
            </a:r>
          </a:p>
        </p:txBody>
      </p:sp>
      <p:pic>
        <p:nvPicPr>
          <p:cNvPr id="17" name="Picture 16" descr="chart_PROCEDIMIENT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328" y="3840480"/>
            <a:ext cx="2802636" cy="1252728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3214116" y="3675888"/>
            <a:ext cx="280263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1" i="0">
                <a:solidFill>
                  <a:srgbClr val="7DC1E5"/>
                </a:solidFill>
                <a:latin typeface="Calibri"/>
              </a:defRPr>
            </a:pPr>
            <a:r>
              <a:t>ALARMAS</a:t>
            </a:r>
          </a:p>
        </p:txBody>
      </p:sp>
      <p:pic>
        <p:nvPicPr>
          <p:cNvPr id="19" name="Picture 18" descr="chart_ALARMA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14116" y="3840480"/>
            <a:ext cx="2802636" cy="1252728"/>
          </a:xfrm>
          <a:prstGeom prst="rect">
            <a:avLst/>
          </a:prstGeom>
        </p:spPr>
      </p:pic>
      <p:sp>
        <p:nvSpPr>
          <p:cNvPr id="20" name="Rounded Rectangle 19"/>
          <p:cNvSpPr/>
          <p:nvPr/>
        </p:nvSpPr>
        <p:spPr>
          <a:xfrm>
            <a:off x="338328" y="5166360"/>
            <a:ext cx="5678424" cy="777240"/>
          </a:xfrm>
          <a:prstGeom prst="roundRect">
            <a:avLst>
              <a:gd name="adj" fmla="val 3000"/>
            </a:avLst>
          </a:prstGeom>
          <a:solidFill>
            <a:srgbClr val="0F2A3A"/>
          </a:solidFill>
          <a:ln w="6350">
            <a:solidFill>
              <a:srgbClr val="267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93192" y="5221224"/>
            <a:ext cx="5568696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00" b="1" i="0">
                <a:solidFill>
                  <a:srgbClr val="7DC1E5"/>
                </a:solidFill>
                <a:latin typeface="Calibri"/>
              </a:defRPr>
            </a:pPr>
            <a:r>
              <a:t>✅  CONCLUSIONES  •  ISO 9001:2015 ininterrumpida desde 2019 — TÜV Rheinland Cert. N° 01 10006 2129714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3192" y="5349240"/>
            <a:ext cx="556869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700"/>
              </a:lnSpc>
              <a:spcBef>
                <a:spcPts val="0"/>
              </a:spcBef>
              <a:spcAft>
                <a:spcPts val="100"/>
              </a:spcAft>
              <a:defRPr sz="600" b="0">
                <a:solidFill>
                  <a:srgbClr val="B8B8B8"/>
                </a:solidFill>
                <a:latin typeface="Calibri"/>
              </a:defRPr>
            </a:pPr>
            <a:r>
              <a:t>▸  +163.8% alarmas atendidas por refuerzo de personal  •  +82.4% actuaciones por renovación de flota</a:t>
            </a:r>
          </a:p>
          <a:p>
            <a:pPr>
              <a:lnSpc>
                <a:spcPts val="700"/>
              </a:lnSpc>
              <a:spcBef>
                <a:spcPts val="0"/>
              </a:spcBef>
              <a:spcAft>
                <a:spcPts val="100"/>
              </a:spcAft>
              <a:defRPr sz="600" b="0">
                <a:solidFill>
                  <a:srgbClr val="B8B8B8"/>
                </a:solidFill>
                <a:latin typeface="Calibri"/>
              </a:defRPr>
            </a:pPr>
            <a:r>
              <a:t>▸  🚁 Próximo paso: drones para seguimiento vehicular y cobertura aérea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63640" y="713232"/>
            <a:ext cx="5897880" cy="5897880"/>
          </a:xfrm>
          <a:prstGeom prst="roundRect">
            <a:avLst>
              <a:gd name="adj" fmla="val 2000"/>
            </a:avLst>
          </a:prstGeom>
          <a:solidFill>
            <a:srgbClr val="0A1218"/>
          </a:solidFill>
          <a:ln w="12700">
            <a:solidFill>
              <a:srgbClr val="2373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0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0" y="822960"/>
            <a:ext cx="411480" cy="41148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6903720" y="822960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2373AA"/>
                </a:solidFill>
                <a:latin typeface="Calibri"/>
              </a:defRPr>
            </a:pPr>
            <a:r>
              <a:t>DIVISIÓN SENSORES TECNOLÓGICOS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03720" y="1005840"/>
            <a:ext cx="347472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00" b="0" i="1">
                <a:solidFill>
                  <a:srgbClr val="5D5D5D"/>
                </a:solidFill>
                <a:latin typeface="Calibri"/>
              </a:defRPr>
            </a:pPr>
            <a:r>
              <a:t>Fuerza Efectiva  •  Resultados 2025 vs 2026  •  Gráficos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373368" y="1280160"/>
            <a:ext cx="2802636" cy="868680"/>
          </a:xfrm>
          <a:prstGeom prst="roundRect">
            <a:avLst>
              <a:gd name="adj" fmla="val 3000"/>
            </a:avLst>
          </a:prstGeom>
          <a:solidFill>
            <a:srgbClr val="121E2E"/>
          </a:solidFill>
          <a:ln w="6350">
            <a:solidFill>
              <a:srgbClr val="2373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28232" y="1335024"/>
            <a:ext cx="2692908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" b="1" i="0">
                <a:solidFill>
                  <a:srgbClr val="7DC1E5"/>
                </a:solidFill>
                <a:latin typeface="Calibri"/>
              </a:defRPr>
            </a:pPr>
            <a:r>
              <a:t>👥  FUERZA EFECTIVA: 104 efectivos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28232" y="1481328"/>
            <a:ext cx="269290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700"/>
              </a:lnSpc>
              <a:spcBef>
                <a:spcPts val="0"/>
              </a:spcBef>
              <a:spcAft>
                <a:spcPts val="100"/>
              </a:spcAft>
              <a:defRPr sz="600" b="1">
                <a:solidFill>
                  <a:srgbClr val="E8F1F8"/>
                </a:solidFill>
                <a:latin typeface="Calibri"/>
              </a:defRPr>
            </a:pPr>
            <a:r>
              <a:t>▸  Posee 1 Centro de Monitoreo</a:t>
            </a:r>
          </a:p>
          <a:p>
            <a:pPr>
              <a:lnSpc>
                <a:spcPts val="700"/>
              </a:lnSpc>
              <a:spcBef>
                <a:spcPts val="0"/>
              </a:spcBef>
              <a:spcAft>
                <a:spcPts val="100"/>
              </a:spcAft>
              <a:defRPr sz="600" b="0">
                <a:solidFill>
                  <a:srgbClr val="B8B8B8"/>
                </a:solidFill>
                <a:latin typeface="Calibri"/>
              </a:defRPr>
            </a:pPr>
            <a:r>
              <a:t>▸  Gestión de Dispositivos Antipánico, Pulseras y Tobilleras</a:t>
            </a:r>
          </a:p>
          <a:p>
            <a:pPr>
              <a:lnSpc>
                <a:spcPts val="700"/>
              </a:lnSpc>
              <a:spcBef>
                <a:spcPts val="0"/>
              </a:spcBef>
              <a:spcAft>
                <a:spcPts val="100"/>
              </a:spcAft>
              <a:defRPr sz="600" b="0">
                <a:solidFill>
                  <a:srgbClr val="B8B8B8"/>
                </a:solidFill>
                <a:latin typeface="Calibri"/>
              </a:defRPr>
            </a:pPr>
            <a:r>
              <a:t>▸  Monitoreo de Dispositivos judicializados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249156" y="1280160"/>
            <a:ext cx="2802636" cy="868680"/>
          </a:xfrm>
          <a:prstGeom prst="roundRect">
            <a:avLst>
              <a:gd name="adj" fmla="val 3000"/>
            </a:avLst>
          </a:prstGeom>
          <a:solidFill>
            <a:srgbClr val="121E2E"/>
          </a:solidFill>
          <a:ln w="6350">
            <a:solidFill>
              <a:srgbClr val="2373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304020" y="1335024"/>
            <a:ext cx="2692908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50" b="1" i="0">
                <a:solidFill>
                  <a:srgbClr val="7DC1E5"/>
                </a:solidFill>
                <a:latin typeface="Calibri"/>
              </a:defRPr>
            </a:pPr>
            <a:r>
              <a:t>🏛️  DEPENDENCIA Y ORGANIZACIÓN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04020" y="1481328"/>
            <a:ext cx="269290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500">
                <a:solidFill>
                  <a:srgbClr val="B8B8B8"/>
                </a:solidFill>
                <a:latin typeface="Calibri"/>
              </a:defRPr>
            </a:pPr>
            <a:r>
              <a:t>Depende del Dpto. Coordinación Operativa (art. 176°)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04020" y="1664208"/>
            <a:ext cx="26929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700"/>
              </a:lnSpc>
              <a:spcBef>
                <a:spcPts val="0"/>
              </a:spcBef>
              <a:spcAft>
                <a:spcPts val="100"/>
              </a:spcAft>
              <a:defRPr sz="600" b="1">
                <a:solidFill>
                  <a:srgbClr val="E8F1F8"/>
                </a:solidFill>
                <a:latin typeface="Calibri"/>
              </a:defRPr>
            </a:pPr>
            <a:r>
              <a:t>▸  Sección Dispositivos Antipánico: 40</a:t>
            </a:r>
          </a:p>
          <a:p>
            <a:pPr>
              <a:lnSpc>
                <a:spcPts val="700"/>
              </a:lnSpc>
              <a:spcBef>
                <a:spcPts val="0"/>
              </a:spcBef>
              <a:spcAft>
                <a:spcPts val="100"/>
              </a:spcAft>
              <a:defRPr sz="600" b="1">
                <a:solidFill>
                  <a:srgbClr val="E8F1F8"/>
                </a:solidFill>
                <a:latin typeface="Calibri"/>
              </a:defRPr>
            </a:pPr>
            <a:r>
              <a:t>▸  Sección Pulseras y Tobilleras: 48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73368" y="2221992"/>
            <a:ext cx="5678424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" b="1" i="0">
                <a:solidFill>
                  <a:srgbClr val="7DC1E5"/>
                </a:solidFill>
                <a:latin typeface="Calibri"/>
              </a:defRPr>
            </a:pPr>
            <a:r>
              <a:t>📊  RESULTADOS 2025 vs 2026  •  ENE – AGO</a:t>
            </a:r>
          </a:p>
        </p:txBody>
      </p:sp>
      <p:graphicFrame>
        <p:nvGraphicFramePr>
          <p:cNvPr id="35" name="Table 34"/>
          <p:cNvGraphicFramePr>
            <a:graphicFrameLocks noGrp="1"/>
          </p:cNvGraphicFramePr>
          <p:nvPr/>
        </p:nvGraphicFramePr>
        <p:xfrm>
          <a:off x="6373368" y="2368296"/>
          <a:ext cx="4069080" cy="1234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685800"/>
                <a:gridCol w="685800"/>
                <a:gridCol w="685800"/>
              </a:tblGrid>
              <a:tr h="176348">
                <a:tc>
                  <a:txBody>
                    <a:bodyPr/>
                    <a:lstStyle/>
                    <a:p>
                      <a:pPr algn="l">
                        <a:defRPr sz="550" b="1">
                          <a:solidFill>
                            <a:srgbClr val="7DC1E5"/>
                          </a:solidFill>
                          <a:latin typeface="Calibri"/>
                        </a:defRPr>
                      </a:pPr>
                      <a:r>
                        <a:t>Indicador</a:t>
                      </a:r>
                    </a:p>
                  </a:txBody>
                  <a:tcPr anchor="ctr" marL="27432" marR="27432">
                    <a:solidFill>
                      <a:srgbClr val="1A2E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550" b="1">
                          <a:solidFill>
                            <a:srgbClr val="7DC1E5"/>
                          </a:solidFill>
                          <a:latin typeface="Calibri"/>
                        </a:defRPr>
                      </a:pPr>
                      <a:r>
                        <a:t>2025</a:t>
                      </a:r>
                    </a:p>
                  </a:txBody>
                  <a:tcPr anchor="ctr" marL="27432" marR="27432">
                    <a:solidFill>
                      <a:srgbClr val="1A2E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550" b="1">
                          <a:solidFill>
                            <a:srgbClr val="7DC1E5"/>
                          </a:solidFill>
                          <a:latin typeface="Calibri"/>
                        </a:defRPr>
                      </a:pPr>
                      <a:r>
                        <a:t>2026</a:t>
                      </a:r>
                    </a:p>
                  </a:txBody>
                  <a:tcPr anchor="ctr" marL="27432" marR="27432">
                    <a:solidFill>
                      <a:srgbClr val="1A2E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550" b="1">
                          <a:solidFill>
                            <a:srgbClr val="7DC1E5"/>
                          </a:solidFill>
                          <a:latin typeface="Calibri"/>
                        </a:defRPr>
                      </a:pPr>
                      <a:r>
                        <a:t>Variación</a:t>
                      </a:r>
                    </a:p>
                  </a:txBody>
                  <a:tcPr anchor="ctr" marL="27432" marR="27432">
                    <a:solidFill>
                      <a:srgbClr val="1A2E42"/>
                    </a:solidFill>
                  </a:tcPr>
                </a:tc>
              </a:tr>
              <a:tr h="176348">
                <a:tc>
                  <a:txBody>
                    <a:bodyPr/>
                    <a:lstStyle/>
                    <a:p>
                      <a:pPr algn="l">
                        <a:defRPr sz="550">
                          <a:solidFill>
                            <a:srgbClr val="E8F1F8"/>
                          </a:solidFill>
                          <a:latin typeface="Calibri"/>
                        </a:defRPr>
                      </a:pPr>
                      <a:r>
                        <a:t>Disp. Antipánico Monitoreados</a:t>
                      </a:r>
                    </a:p>
                  </a:txBody>
                  <a:tcPr anchor="ctr" marL="27432" marR="27432">
                    <a:solidFill>
                      <a:srgbClr val="0F1E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550">
                          <a:solidFill>
                            <a:srgbClr val="B8B8B8"/>
                          </a:solidFill>
                          <a:latin typeface="Calibri"/>
                        </a:defRPr>
                      </a:pPr>
                      <a:r>
                        <a:t>26.207</a:t>
                      </a:r>
                    </a:p>
                  </a:txBody>
                  <a:tcPr anchor="ctr" marL="27432" marR="27432">
                    <a:solidFill>
                      <a:srgbClr val="0F1E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550">
                          <a:solidFill>
                            <a:srgbClr val="B8B8B8"/>
                          </a:solidFill>
                          <a:latin typeface="Calibri"/>
                        </a:defRPr>
                      </a:pPr>
                      <a:r>
                        <a:t>31.620</a:t>
                      </a:r>
                    </a:p>
                  </a:txBody>
                  <a:tcPr anchor="ctr" marL="27432" marR="27432">
                    <a:solidFill>
                      <a:srgbClr val="0F1E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550">
                          <a:solidFill>
                            <a:srgbClr val="4ADE80"/>
                          </a:solidFill>
                          <a:latin typeface="Calibri"/>
                        </a:defRPr>
                      </a:pPr>
                      <a:r>
                        <a:t>↑ 20.7%</a:t>
                      </a:r>
                    </a:p>
                  </a:txBody>
                  <a:tcPr anchor="ctr" marL="27432" marR="27432">
                    <a:solidFill>
                      <a:srgbClr val="0F1E2E"/>
                    </a:solidFill>
                  </a:tcPr>
                </a:tc>
              </a:tr>
              <a:tr h="176348">
                <a:tc>
                  <a:txBody>
                    <a:bodyPr/>
                    <a:lstStyle/>
                    <a:p>
                      <a:pPr algn="l">
                        <a:defRPr sz="550">
                          <a:solidFill>
                            <a:srgbClr val="E8F1F8"/>
                          </a:solidFill>
                          <a:latin typeface="Calibri"/>
                        </a:defRPr>
                      </a:pPr>
                      <a:r>
                        <a:t>Accionamiento Disp. Antipánico</a:t>
                      </a:r>
                    </a:p>
                  </a:txBody>
                  <a:tcPr anchor="ctr" marL="27432" marR="27432">
                    <a:solidFill>
                      <a:srgbClr val="121A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550">
                          <a:solidFill>
                            <a:srgbClr val="B8B8B8"/>
                          </a:solidFill>
                          <a:latin typeface="Calibri"/>
                        </a:defRPr>
                      </a:pPr>
                      <a:r>
                        <a:t>7.339</a:t>
                      </a:r>
                    </a:p>
                  </a:txBody>
                  <a:tcPr anchor="ctr" marL="27432" marR="27432">
                    <a:solidFill>
                      <a:srgbClr val="121A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550">
                          <a:solidFill>
                            <a:srgbClr val="B8B8B8"/>
                          </a:solidFill>
                          <a:latin typeface="Calibri"/>
                        </a:defRPr>
                      </a:pPr>
                      <a:r>
                        <a:t>6.549</a:t>
                      </a:r>
                    </a:p>
                  </a:txBody>
                  <a:tcPr anchor="ctr" marL="27432" marR="27432">
                    <a:solidFill>
                      <a:srgbClr val="121A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550">
                          <a:solidFill>
                            <a:srgbClr val="F87171"/>
                          </a:solidFill>
                          <a:latin typeface="Calibri"/>
                        </a:defRPr>
                      </a:pPr>
                      <a:r>
                        <a:t>↓ 10.8%</a:t>
                      </a:r>
                    </a:p>
                  </a:txBody>
                  <a:tcPr anchor="ctr" marL="27432" marR="27432">
                    <a:solidFill>
                      <a:srgbClr val="121A22"/>
                    </a:solidFill>
                  </a:tcPr>
                </a:tc>
              </a:tr>
              <a:tr h="176348">
                <a:tc>
                  <a:txBody>
                    <a:bodyPr/>
                    <a:lstStyle/>
                    <a:p>
                      <a:pPr algn="l">
                        <a:defRPr sz="550">
                          <a:solidFill>
                            <a:srgbClr val="E8F1F8"/>
                          </a:solidFill>
                          <a:latin typeface="Calibri"/>
                        </a:defRPr>
                      </a:pPr>
                      <a:r>
                        <a:t>Detenidos Sec. Disp. Antipánico</a:t>
                      </a:r>
                    </a:p>
                  </a:txBody>
                  <a:tcPr anchor="ctr" marL="27432" marR="27432">
                    <a:solidFill>
                      <a:srgbClr val="0F1E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550">
                          <a:solidFill>
                            <a:srgbClr val="B8B8B8"/>
                          </a:solidFill>
                          <a:latin typeface="Calibri"/>
                        </a:defRPr>
                      </a:pPr>
                      <a:r>
                        <a:t>173</a:t>
                      </a:r>
                    </a:p>
                  </a:txBody>
                  <a:tcPr anchor="ctr" marL="27432" marR="27432">
                    <a:solidFill>
                      <a:srgbClr val="0F1E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550">
                          <a:solidFill>
                            <a:srgbClr val="B8B8B8"/>
                          </a:solidFill>
                          <a:latin typeface="Calibri"/>
                        </a:defRPr>
                      </a:pPr>
                      <a:r>
                        <a:t>230</a:t>
                      </a:r>
                    </a:p>
                  </a:txBody>
                  <a:tcPr anchor="ctr" marL="27432" marR="27432">
                    <a:solidFill>
                      <a:srgbClr val="0F1E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550">
                          <a:solidFill>
                            <a:srgbClr val="4ADE80"/>
                          </a:solidFill>
                          <a:latin typeface="Calibri"/>
                        </a:defRPr>
                      </a:pPr>
                      <a:r>
                        <a:t>↑ 32.9%</a:t>
                      </a:r>
                    </a:p>
                  </a:txBody>
                  <a:tcPr anchor="ctr" marL="27432" marR="27432">
                    <a:solidFill>
                      <a:srgbClr val="0F1E2E"/>
                    </a:solidFill>
                  </a:tcPr>
                </a:tc>
              </a:tr>
              <a:tr h="176348">
                <a:tc>
                  <a:txBody>
                    <a:bodyPr/>
                    <a:lstStyle/>
                    <a:p>
                      <a:pPr algn="l">
                        <a:defRPr sz="550">
                          <a:solidFill>
                            <a:srgbClr val="E8F1F8"/>
                          </a:solidFill>
                          <a:latin typeface="Calibri"/>
                        </a:defRPr>
                      </a:pPr>
                      <a:r>
                        <a:t>Pulseras y Tobilleras Monit.</a:t>
                      </a:r>
                    </a:p>
                  </a:txBody>
                  <a:tcPr anchor="ctr" marL="27432" marR="27432">
                    <a:solidFill>
                      <a:srgbClr val="121A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550">
                          <a:solidFill>
                            <a:srgbClr val="B8B8B8"/>
                          </a:solidFill>
                          <a:latin typeface="Calibri"/>
                        </a:defRPr>
                      </a:pPr>
                      <a:r>
                        <a:t>3.349</a:t>
                      </a:r>
                    </a:p>
                  </a:txBody>
                  <a:tcPr anchor="ctr" marL="27432" marR="27432">
                    <a:solidFill>
                      <a:srgbClr val="121A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550">
                          <a:solidFill>
                            <a:srgbClr val="B8B8B8"/>
                          </a:solidFill>
                          <a:latin typeface="Calibri"/>
                        </a:defRPr>
                      </a:pPr>
                      <a:r>
                        <a:t>3.581</a:t>
                      </a:r>
                    </a:p>
                  </a:txBody>
                  <a:tcPr anchor="ctr" marL="27432" marR="27432">
                    <a:solidFill>
                      <a:srgbClr val="121A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550">
                          <a:solidFill>
                            <a:srgbClr val="4ADE80"/>
                          </a:solidFill>
                          <a:latin typeface="Calibri"/>
                        </a:defRPr>
                      </a:pPr>
                      <a:r>
                        <a:t>↑ 6.9%</a:t>
                      </a:r>
                    </a:p>
                  </a:txBody>
                  <a:tcPr anchor="ctr" marL="27432" marR="27432">
                    <a:solidFill>
                      <a:srgbClr val="121A22"/>
                    </a:solidFill>
                  </a:tcPr>
                </a:tc>
              </a:tr>
              <a:tr h="176348">
                <a:tc>
                  <a:txBody>
                    <a:bodyPr/>
                    <a:lstStyle/>
                    <a:p>
                      <a:pPr algn="l">
                        <a:defRPr sz="550">
                          <a:solidFill>
                            <a:srgbClr val="E8F1F8"/>
                          </a:solidFill>
                          <a:latin typeface="Calibri"/>
                        </a:defRPr>
                      </a:pPr>
                      <a:r>
                        <a:t>Cant. Alertas Pulseras/Tobill.</a:t>
                      </a:r>
                    </a:p>
                  </a:txBody>
                  <a:tcPr anchor="ctr" marL="27432" marR="27432">
                    <a:solidFill>
                      <a:srgbClr val="0F1E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550">
                          <a:solidFill>
                            <a:srgbClr val="B8B8B8"/>
                          </a:solidFill>
                          <a:latin typeface="Calibri"/>
                        </a:defRPr>
                      </a:pPr>
                      <a:r>
                        <a:t>657.710</a:t>
                      </a:r>
                    </a:p>
                  </a:txBody>
                  <a:tcPr anchor="ctr" marL="27432" marR="27432">
                    <a:solidFill>
                      <a:srgbClr val="0F1E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550">
                          <a:solidFill>
                            <a:srgbClr val="B8B8B8"/>
                          </a:solidFill>
                          <a:latin typeface="Calibri"/>
                        </a:defRPr>
                      </a:pPr>
                      <a:r>
                        <a:t>662.653</a:t>
                      </a:r>
                    </a:p>
                  </a:txBody>
                  <a:tcPr anchor="ctr" marL="27432" marR="27432">
                    <a:solidFill>
                      <a:srgbClr val="0F1E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550">
                          <a:solidFill>
                            <a:srgbClr val="4ADE80"/>
                          </a:solidFill>
                          <a:latin typeface="Calibri"/>
                        </a:defRPr>
                      </a:pPr>
                      <a:r>
                        <a:t>↑ 0.8%</a:t>
                      </a:r>
                    </a:p>
                  </a:txBody>
                  <a:tcPr anchor="ctr" marL="27432" marR="27432">
                    <a:solidFill>
                      <a:srgbClr val="0F1E2E"/>
                    </a:solidFill>
                  </a:tcPr>
                </a:tc>
              </a:tr>
              <a:tr h="176352">
                <a:tc>
                  <a:txBody>
                    <a:bodyPr/>
                    <a:lstStyle/>
                    <a:p>
                      <a:pPr algn="l">
                        <a:defRPr sz="550">
                          <a:solidFill>
                            <a:srgbClr val="E8F1F8"/>
                          </a:solidFill>
                          <a:latin typeface="Calibri"/>
                        </a:defRPr>
                      </a:pPr>
                      <a:r>
                        <a:t>Detenidos Sec. Pulseras/Tobill.</a:t>
                      </a:r>
                    </a:p>
                  </a:txBody>
                  <a:tcPr anchor="ctr" marL="27432" marR="27432">
                    <a:solidFill>
                      <a:srgbClr val="121A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550">
                          <a:solidFill>
                            <a:srgbClr val="B8B8B8"/>
                          </a:solidFill>
                          <a:latin typeface="Calibri"/>
                        </a:defRPr>
                      </a:pPr>
                      <a:r>
                        <a:t>93</a:t>
                      </a:r>
                    </a:p>
                  </a:txBody>
                  <a:tcPr anchor="ctr" marL="27432" marR="27432">
                    <a:solidFill>
                      <a:srgbClr val="121A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550">
                          <a:solidFill>
                            <a:srgbClr val="B8B8B8"/>
                          </a:solidFill>
                          <a:latin typeface="Calibri"/>
                        </a:defRPr>
                      </a:pPr>
                      <a:r>
                        <a:t>122</a:t>
                      </a:r>
                    </a:p>
                  </a:txBody>
                  <a:tcPr anchor="ctr" marL="27432" marR="27432">
                    <a:solidFill>
                      <a:srgbClr val="121A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550">
                          <a:solidFill>
                            <a:srgbClr val="4ADE80"/>
                          </a:solidFill>
                          <a:latin typeface="Calibri"/>
                        </a:defRPr>
                      </a:pPr>
                      <a:r>
                        <a:t>↑ 31.2%</a:t>
                      </a:r>
                    </a:p>
                  </a:txBody>
                  <a:tcPr anchor="ctr" marL="27432" marR="27432">
                    <a:solidFill>
                      <a:srgbClr val="121A22"/>
                    </a:solidFill>
                  </a:tcPr>
                </a:tc>
              </a:tr>
            </a:tbl>
          </a:graphicData>
        </a:graphic>
      </p:graphicFrame>
      <p:sp>
        <p:nvSpPr>
          <p:cNvPr id="36" name="TextBox 35"/>
          <p:cNvSpPr txBox="1"/>
          <p:nvPr/>
        </p:nvSpPr>
        <p:spPr>
          <a:xfrm>
            <a:off x="6373368" y="3675888"/>
            <a:ext cx="280263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1" i="0">
                <a:solidFill>
                  <a:srgbClr val="7DC1E5"/>
                </a:solidFill>
                <a:latin typeface="Calibri"/>
              </a:defRPr>
            </a:pPr>
            <a:r>
              <a:t>PULSERAS Y TOBILLERAS</a:t>
            </a:r>
          </a:p>
        </p:txBody>
      </p:sp>
      <p:pic>
        <p:nvPicPr>
          <p:cNvPr id="37" name="Picture 36" descr="chart_PULSERAS_Y_TOBILLERA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73368" y="3840480"/>
            <a:ext cx="2802636" cy="1252728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9249156" y="3675888"/>
            <a:ext cx="280263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1" i="0">
                <a:solidFill>
                  <a:srgbClr val="7DC1E5"/>
                </a:solidFill>
                <a:latin typeface="Calibri"/>
              </a:defRPr>
            </a:pPr>
            <a:r>
              <a:t>DISPOSITIVOS ANTIPÁNICO</a:t>
            </a:r>
          </a:p>
        </p:txBody>
      </p:sp>
      <p:pic>
        <p:nvPicPr>
          <p:cNvPr id="39" name="Picture 38" descr="chart_DISPOSITIVOS_ANTIPANICO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49156" y="3840480"/>
            <a:ext cx="2802636" cy="1252728"/>
          </a:xfrm>
          <a:prstGeom prst="rect">
            <a:avLst/>
          </a:prstGeom>
        </p:spPr>
      </p:pic>
      <p:sp>
        <p:nvSpPr>
          <p:cNvPr id="40" name="Rounded Rectangle 39"/>
          <p:cNvSpPr/>
          <p:nvPr/>
        </p:nvSpPr>
        <p:spPr>
          <a:xfrm>
            <a:off x="6373368" y="5166360"/>
            <a:ext cx="5678424" cy="777240"/>
          </a:xfrm>
          <a:prstGeom prst="roundRect">
            <a:avLst>
              <a:gd name="adj" fmla="val 3000"/>
            </a:avLst>
          </a:prstGeom>
          <a:solidFill>
            <a:srgbClr val="0F2A3A"/>
          </a:solidFill>
          <a:ln w="6350">
            <a:solidFill>
              <a:srgbClr val="267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28232" y="5221224"/>
            <a:ext cx="5568696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00" b="1" i="0">
                <a:solidFill>
                  <a:srgbClr val="7DC1E5"/>
                </a:solidFill>
                <a:latin typeface="Calibri"/>
              </a:defRPr>
            </a:pPr>
            <a:r>
              <a:t>✅  CONCLUSIONES  •  Certificada ISO 9001:2015 — TÜV Rheinland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28232" y="5349240"/>
            <a:ext cx="556869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700"/>
              </a:lnSpc>
              <a:spcBef>
                <a:spcPts val="0"/>
              </a:spcBef>
              <a:spcAft>
                <a:spcPts val="100"/>
              </a:spcAft>
              <a:defRPr sz="600" b="0">
                <a:solidFill>
                  <a:srgbClr val="B8B8B8"/>
                </a:solidFill>
                <a:latin typeface="Calibri"/>
              </a:defRPr>
            </a:pPr>
            <a:r>
              <a:t>▸  2026: incorporada a Auditorías ISO 9001:2015 bajo Dpto. Coordinación Operativa</a:t>
            </a:r>
          </a:p>
          <a:p>
            <a:pPr>
              <a:lnSpc>
                <a:spcPts val="700"/>
              </a:lnSpc>
              <a:spcBef>
                <a:spcPts val="0"/>
              </a:spcBef>
              <a:spcAft>
                <a:spcPts val="100"/>
              </a:spcAft>
              <a:defRPr sz="600" b="0">
                <a:solidFill>
                  <a:srgbClr val="B8B8B8"/>
                </a:solidFill>
                <a:latin typeface="Calibri"/>
              </a:defRPr>
            </a:pPr>
            <a:r>
              <a:t>▸  🔜 Próximo paso: integrar SIMEI (Surely) y SAE para trazabilidad automática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74320" y="6656832"/>
            <a:ext cx="11640312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>
                <a:solidFill>
                  <a:srgbClr val="5D5D5D"/>
                </a:solidFill>
                <a:latin typeface="Calibri"/>
              </a:defRPr>
            </a:pPr>
            <a:r>
              <a:t>Informe 2026  •  Policía de la Ciudad  •  Superintendencia Prevención y Gestión de Emergencias  •  Certificación ISO 9001:2015 — TÜV Rheinland Cert. N° 01 10006 2129714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